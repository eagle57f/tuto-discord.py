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0" r:id="rId1"/>
  </p:sldMasterIdLst>
  <p:sldIdLst>
    <p:sldId id="256" r:id="rId2"/>
    <p:sldId id="257" r:id="rId3"/>
    <p:sldId id="258" r:id="rId4"/>
    <p:sldId id="259" r:id="rId5"/>
    <p:sldId id="264" r:id="rId6"/>
    <p:sldId id="261" r:id="rId7"/>
    <p:sldId id="262" r:id="rId8"/>
    <p:sldId id="263" r:id="rId9"/>
    <p:sldId id="265" r:id="rId10"/>
    <p:sldId id="266" r:id="rId11"/>
    <p:sldId id="267" r:id="rId12"/>
    <p:sldId id="268" r:id="rId13"/>
    <p:sldId id="269" r:id="rId14"/>
    <p:sldId id="270" r:id="rId15"/>
    <p:sldId id="26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20" autoAdjust="0"/>
  </p:normalViewPr>
  <p:slideViewPr>
    <p:cSldViewPr snapToGrid="0">
      <p:cViewPr varScale="1">
        <p:scale>
          <a:sx n="108" d="100"/>
          <a:sy n="108" d="100"/>
        </p:scale>
        <p:origin x="6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fr-FR"/>
              <a:t>Modifiez le style du titre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7DAC6AA3-ACDC-455D-8F61-90562DABAAE3}" type="datetimeFigureOut">
              <a:rPr lang="fr-FR" smtClean="0"/>
              <a:t>27/04/2023</a:t>
            </a:fld>
            <a:endParaRPr lang="fr-FR"/>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F6505AD7-7EB7-49C8-B14A-2FC1E779D7F7}" type="slidenum">
              <a:rPr lang="fr-FR" smtClean="0"/>
              <a:t>‹N°›</a:t>
            </a:fld>
            <a:endParaRPr lang="fr-F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6279224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DAC6AA3-ACDC-455D-8F61-90562DABAAE3}" type="datetimeFigureOut">
              <a:rPr lang="fr-FR" smtClean="0"/>
              <a:t>27/04/2023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505AD7-7EB7-49C8-B14A-2FC1E779D7F7}" type="slidenum">
              <a:rPr lang="fr-FR" smtClean="0"/>
              <a:t>‹N°›</a:t>
            </a:fld>
            <a:endParaRPr lang="fr-FR"/>
          </a:p>
        </p:txBody>
      </p:sp>
    </p:spTree>
    <p:extLst>
      <p:ext uri="{BB962C8B-B14F-4D97-AF65-F5344CB8AC3E}">
        <p14:creationId xmlns:p14="http://schemas.microsoft.com/office/powerpoint/2010/main" val="1101848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fr-FR"/>
              <a:t>Modifiez le style du titre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DAC6AA3-ACDC-455D-8F61-90562DABAAE3}" type="datetimeFigureOut">
              <a:rPr lang="fr-FR" smtClean="0"/>
              <a:t>27/04/2023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505AD7-7EB7-49C8-B14A-2FC1E779D7F7}" type="slidenum">
              <a:rPr lang="fr-FR" smtClean="0"/>
              <a:t>‹N°›</a:t>
            </a:fld>
            <a:endParaRPr lang="fr-F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76308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DAC6AA3-ACDC-455D-8F61-90562DABAAE3}" type="datetimeFigureOut">
              <a:rPr lang="fr-FR" smtClean="0"/>
              <a:t>27/04/2023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6505AD7-7EB7-49C8-B14A-2FC1E779D7F7}" type="slidenum">
              <a:rPr lang="fr-FR" smtClean="0"/>
              <a:t>‹N°›</a:t>
            </a:fld>
            <a:endParaRPr lang="fr-FR"/>
          </a:p>
        </p:txBody>
      </p:sp>
    </p:spTree>
    <p:extLst>
      <p:ext uri="{BB962C8B-B14F-4D97-AF65-F5344CB8AC3E}">
        <p14:creationId xmlns:p14="http://schemas.microsoft.com/office/powerpoint/2010/main" val="1626551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fr-FR"/>
              <a:t>Cliquez pour modifier les styles du texte du masque</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DAC6AA3-ACDC-455D-8F61-90562DABAAE3}" type="datetimeFigureOut">
              <a:rPr lang="fr-FR" smtClean="0"/>
              <a:t>27/04/2023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F6505AD7-7EB7-49C8-B14A-2FC1E779D7F7}" type="slidenum">
              <a:rPr lang="fr-FR" smtClean="0"/>
              <a:t>‹N°›</a:t>
            </a:fld>
            <a:endParaRPr lang="fr-FR"/>
          </a:p>
        </p:txBody>
      </p:sp>
    </p:spTree>
    <p:extLst>
      <p:ext uri="{BB962C8B-B14F-4D97-AF65-F5344CB8AC3E}">
        <p14:creationId xmlns:p14="http://schemas.microsoft.com/office/powerpoint/2010/main" val="4197624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7DAC6AA3-ACDC-455D-8F61-90562DABAAE3}" type="datetimeFigureOut">
              <a:rPr lang="fr-FR" smtClean="0"/>
              <a:t>27/04/2023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F6505AD7-7EB7-49C8-B14A-2FC1E779D7F7}" type="slidenum">
              <a:rPr lang="fr-FR" smtClean="0"/>
              <a:t>‹N°›</a:t>
            </a:fld>
            <a:endParaRPr lang="fr-FR"/>
          </a:p>
        </p:txBody>
      </p:sp>
    </p:spTree>
    <p:extLst>
      <p:ext uri="{BB962C8B-B14F-4D97-AF65-F5344CB8AC3E}">
        <p14:creationId xmlns:p14="http://schemas.microsoft.com/office/powerpoint/2010/main" val="25778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AC6AA3-ACDC-455D-8F61-90562DABAAE3}" type="datetimeFigureOut">
              <a:rPr lang="fr-FR" smtClean="0"/>
              <a:t>27/04/2023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F6505AD7-7EB7-49C8-B14A-2FC1E779D7F7}" type="slidenum">
              <a:rPr lang="fr-FR" smtClean="0"/>
              <a:t>‹N°›</a:t>
            </a:fld>
            <a:endParaRPr lang="fr-FR"/>
          </a:p>
        </p:txBody>
      </p:sp>
    </p:spTree>
    <p:extLst>
      <p:ext uri="{BB962C8B-B14F-4D97-AF65-F5344CB8AC3E}">
        <p14:creationId xmlns:p14="http://schemas.microsoft.com/office/powerpoint/2010/main" val="3302587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fr-FR"/>
              <a:t>Modifiez le style du titre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DAC6AA3-ACDC-455D-8F61-90562DABAAE3}" type="datetimeFigureOut">
              <a:rPr lang="fr-FR" smtClean="0"/>
              <a:t>27/04/2023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6505AD7-7EB7-49C8-B14A-2FC1E779D7F7}" type="slidenum">
              <a:rPr lang="fr-FR" smtClean="0"/>
              <a:t>‹N°›</a:t>
            </a:fld>
            <a:endParaRPr lang="fr-FR"/>
          </a:p>
        </p:txBody>
      </p:sp>
    </p:spTree>
    <p:extLst>
      <p:ext uri="{BB962C8B-B14F-4D97-AF65-F5344CB8AC3E}">
        <p14:creationId xmlns:p14="http://schemas.microsoft.com/office/powerpoint/2010/main" val="1973050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DAC6AA3-ACDC-455D-8F61-90562DABAAE3}" type="datetimeFigureOut">
              <a:rPr lang="fr-FR" smtClean="0"/>
              <a:t>27/04/2023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6505AD7-7EB7-49C8-B14A-2FC1E779D7F7}" type="slidenum">
              <a:rPr lang="fr-FR" smtClean="0"/>
              <a:t>‹N°›</a:t>
            </a:fld>
            <a:endParaRPr lang="fr-FR"/>
          </a:p>
        </p:txBody>
      </p:sp>
    </p:spTree>
    <p:extLst>
      <p:ext uri="{BB962C8B-B14F-4D97-AF65-F5344CB8AC3E}">
        <p14:creationId xmlns:p14="http://schemas.microsoft.com/office/powerpoint/2010/main" val="4024650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DAC6AA3-ACDC-455D-8F61-90562DABAAE3}" type="datetimeFigureOut">
              <a:rPr lang="fr-FR" smtClean="0"/>
              <a:t>27/04/2023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505AD7-7EB7-49C8-B14A-2FC1E779D7F7}" type="slidenum">
              <a:rPr lang="fr-FR" smtClean="0"/>
              <a:t>‹N°›</a:t>
            </a:fld>
            <a:endParaRPr lang="fr-FR"/>
          </a:p>
        </p:txBody>
      </p:sp>
    </p:spTree>
    <p:extLst>
      <p:ext uri="{BB962C8B-B14F-4D97-AF65-F5344CB8AC3E}">
        <p14:creationId xmlns:p14="http://schemas.microsoft.com/office/powerpoint/2010/main" val="428913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DAC6AA3-ACDC-455D-8F61-90562DABAAE3}" type="datetimeFigureOut">
              <a:rPr lang="fr-FR" smtClean="0"/>
              <a:t>27/04/2023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505AD7-7EB7-49C8-B14A-2FC1E779D7F7}" type="slidenum">
              <a:rPr lang="fr-FR" smtClean="0"/>
              <a:t>‹N°›</a:t>
            </a:fld>
            <a:endParaRPr lang="fr-FR"/>
          </a:p>
        </p:txBody>
      </p:sp>
    </p:spTree>
    <p:extLst>
      <p:ext uri="{BB962C8B-B14F-4D97-AF65-F5344CB8AC3E}">
        <p14:creationId xmlns:p14="http://schemas.microsoft.com/office/powerpoint/2010/main" val="3185636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7DAC6AA3-ACDC-455D-8F61-90562DABAAE3}" type="datetimeFigureOut">
              <a:rPr lang="fr-FR" smtClean="0"/>
              <a:t>27/04/2023</a:t>
            </a:fld>
            <a:endParaRPr lang="fr-F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fr-F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F6505AD7-7EB7-49C8-B14A-2FC1E779D7F7}" type="slidenum">
              <a:rPr lang="fr-FR" smtClean="0"/>
              <a:t>‹N°›</a:t>
            </a:fld>
            <a:endParaRPr lang="fr-FR"/>
          </a:p>
        </p:txBody>
      </p:sp>
    </p:spTree>
    <p:extLst>
      <p:ext uri="{BB962C8B-B14F-4D97-AF65-F5344CB8AC3E}">
        <p14:creationId xmlns:p14="http://schemas.microsoft.com/office/powerpoint/2010/main" val="2202809524"/>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Rapptz/discord.py" TargetMode="External"/><Relationship Id="rId2" Type="http://schemas.openxmlformats.org/officeDocument/2006/relationships/hyperlink" Target="https://discordpy.readthedocs.io/en/latest/api.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python.org/downloads/"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hyperlink" Target="https://discord.com/developers/docs/interactions/application-commands#application-command-object-application-command-option-choice-structure" TargetMode="External"/><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E970E-1F54-3371-2555-3C2AFA8B97EC}"/>
              </a:ext>
            </a:extLst>
          </p:cNvPr>
          <p:cNvSpPr>
            <a:spLocks noGrp="1"/>
          </p:cNvSpPr>
          <p:nvPr>
            <p:ph type="ctrTitle"/>
          </p:nvPr>
        </p:nvSpPr>
        <p:spPr>
          <a:xfrm>
            <a:off x="1386840" y="604006"/>
            <a:ext cx="9418320" cy="3131191"/>
          </a:xfrm>
        </p:spPr>
        <p:txBody>
          <a:bodyPr>
            <a:normAutofit/>
          </a:bodyPr>
          <a:lstStyle/>
          <a:p>
            <a:r>
              <a:rPr lang="fr-FR" sz="6600" dirty="0">
                <a:latin typeface="Arial" panose="020B0604020202020204" pitchFamily="34" charset="0"/>
                <a:ea typeface="Adobe Heiti Std R" panose="020B0400000000000000" pitchFamily="34" charset="-128"/>
                <a:cs typeface="Arial" panose="020B0604020202020204" pitchFamily="34" charset="0"/>
              </a:rPr>
              <a:t>Les bases de </a:t>
            </a:r>
            <a:br>
              <a:rPr lang="fr-FR" sz="6600" dirty="0">
                <a:latin typeface="Arial" panose="020B0604020202020204" pitchFamily="34" charset="0"/>
                <a:ea typeface="Adobe Heiti Std R" panose="020B0400000000000000" pitchFamily="34" charset="-128"/>
                <a:cs typeface="Arial" panose="020B0604020202020204" pitchFamily="34" charset="0"/>
              </a:rPr>
            </a:br>
            <a:r>
              <a:rPr lang="fr-FR" sz="6600" dirty="0">
                <a:latin typeface="Arial" panose="020B0604020202020204" pitchFamily="34" charset="0"/>
                <a:ea typeface="Adobe Heiti Std R" panose="020B0400000000000000" pitchFamily="34" charset="-128"/>
                <a:cs typeface="Arial" panose="020B0604020202020204" pitchFamily="34" charset="0"/>
              </a:rPr>
              <a:t>discord.py (version v2.0.1+)</a:t>
            </a:r>
          </a:p>
        </p:txBody>
      </p:sp>
      <p:sp>
        <p:nvSpPr>
          <p:cNvPr id="4" name="ZoneTexte 3">
            <a:extLst>
              <a:ext uri="{FF2B5EF4-FFF2-40B4-BE49-F238E27FC236}">
                <a16:creationId xmlns:a16="http://schemas.microsoft.com/office/drawing/2014/main" id="{3F1712A9-19D2-6F01-357D-9A4E41A6F37F}"/>
              </a:ext>
            </a:extLst>
          </p:cNvPr>
          <p:cNvSpPr txBox="1"/>
          <p:nvPr/>
        </p:nvSpPr>
        <p:spPr>
          <a:xfrm>
            <a:off x="1386840" y="4070757"/>
            <a:ext cx="9418320" cy="1938992"/>
          </a:xfrm>
          <a:prstGeom prst="rect">
            <a:avLst/>
          </a:prstGeom>
          <a:noFill/>
        </p:spPr>
        <p:txBody>
          <a:bodyPr wrap="square" rtlCol="0">
            <a:spAutoFit/>
          </a:bodyPr>
          <a:lstStyle/>
          <a:p>
            <a:r>
              <a:rPr lang="fr-FR" sz="2400" spc="-50" dirty="0">
                <a:solidFill>
                  <a:schemeClr val="tx1">
                    <a:lumMod val="75000"/>
                  </a:schemeClr>
                </a:solidFill>
                <a:latin typeface="Arial" panose="020B0604020202020204" pitchFamily="34" charset="0"/>
                <a:ea typeface="Adobe Heiti Std R" panose="020B0400000000000000" pitchFamily="34" charset="-128"/>
                <a:cs typeface="Arial" panose="020B0604020202020204" pitchFamily="34" charset="0"/>
              </a:rPr>
              <a:t>Documentation de la librairie discord.py :  </a:t>
            </a:r>
            <a:r>
              <a:rPr lang="fr-FR" sz="2400" spc="-50" dirty="0">
                <a:latin typeface="Arial" panose="020B0604020202020204" pitchFamily="34" charset="0"/>
                <a:ea typeface="Adobe Heiti Std R" panose="020B0400000000000000" pitchFamily="34" charset="-128"/>
                <a:cs typeface="Arial" panose="020B0604020202020204" pitchFamily="34" charset="0"/>
                <a:hlinkClick r:id="rId2"/>
              </a:rPr>
              <a:t>https://discordpy.readthedocs.io/en/latest/api.html</a:t>
            </a:r>
            <a:r>
              <a:rPr lang="fr-FR" sz="2400" spc="-50" dirty="0">
                <a:latin typeface="Arial" panose="020B0604020202020204" pitchFamily="34" charset="0"/>
                <a:ea typeface="Adobe Heiti Std R" panose="020B0400000000000000" pitchFamily="34" charset="-128"/>
                <a:cs typeface="Arial" panose="020B0604020202020204" pitchFamily="34" charset="0"/>
              </a:rPr>
              <a:t> </a:t>
            </a:r>
          </a:p>
          <a:p>
            <a:endParaRPr lang="fr-FR" sz="2400" spc="-50" dirty="0">
              <a:latin typeface="Arial" panose="020B0604020202020204" pitchFamily="34" charset="0"/>
              <a:ea typeface="Adobe Heiti Std R" panose="020B0400000000000000" pitchFamily="34" charset="-128"/>
              <a:cs typeface="Arial" panose="020B0604020202020204" pitchFamily="34" charset="0"/>
            </a:endParaRPr>
          </a:p>
          <a:p>
            <a:r>
              <a:rPr lang="fr-FR" sz="2400" spc="-50" dirty="0" err="1">
                <a:solidFill>
                  <a:schemeClr val="tx1">
                    <a:lumMod val="75000"/>
                  </a:schemeClr>
                </a:solidFill>
                <a:latin typeface="Arial" panose="020B0604020202020204" pitchFamily="34" charset="0"/>
                <a:ea typeface="Adobe Heiti Std R" panose="020B0400000000000000" pitchFamily="34" charset="-128"/>
                <a:cs typeface="Arial" panose="020B0604020202020204" pitchFamily="34" charset="0"/>
              </a:rPr>
              <a:t>Github</a:t>
            </a:r>
            <a:r>
              <a:rPr lang="fr-FR" sz="2400" spc="-50" dirty="0">
                <a:solidFill>
                  <a:schemeClr val="tx1">
                    <a:lumMod val="75000"/>
                  </a:schemeClr>
                </a:solidFill>
                <a:latin typeface="Arial" panose="020B0604020202020204" pitchFamily="34" charset="0"/>
                <a:ea typeface="Adobe Heiti Std R" panose="020B0400000000000000" pitchFamily="34" charset="-128"/>
                <a:cs typeface="Arial" panose="020B0604020202020204" pitchFamily="34" charset="0"/>
              </a:rPr>
              <a:t> de la librairie discord.py :</a:t>
            </a:r>
            <a:br>
              <a:rPr lang="fr-FR" sz="2400" spc="-50" dirty="0">
                <a:latin typeface="Arial" panose="020B0604020202020204" pitchFamily="34" charset="0"/>
                <a:ea typeface="Adobe Heiti Std R" panose="020B0400000000000000" pitchFamily="34" charset="-128"/>
                <a:cs typeface="Arial" panose="020B0604020202020204" pitchFamily="34" charset="0"/>
              </a:rPr>
            </a:br>
            <a:r>
              <a:rPr lang="fr-FR" sz="2400" spc="-50" dirty="0">
                <a:latin typeface="Arial" panose="020B0604020202020204" pitchFamily="34" charset="0"/>
                <a:ea typeface="Adobe Heiti Std R" panose="020B0400000000000000" pitchFamily="34" charset="-128"/>
                <a:cs typeface="Arial" panose="020B0604020202020204" pitchFamily="34" charset="0"/>
                <a:hlinkClick r:id="rId3"/>
              </a:rPr>
              <a:t>https://github.com/Rapptz/discord.py</a:t>
            </a:r>
            <a:r>
              <a:rPr lang="fr-FR" sz="2400" spc="-50" dirty="0">
                <a:latin typeface="Arial" panose="020B0604020202020204" pitchFamily="34" charset="0"/>
                <a:ea typeface="Adobe Heiti Std R" panose="020B0400000000000000" pitchFamily="34" charset="-128"/>
                <a:cs typeface="Arial" panose="020B0604020202020204" pitchFamily="34" charset="0"/>
              </a:rPr>
              <a:t> </a:t>
            </a:r>
          </a:p>
        </p:txBody>
      </p:sp>
      <p:sp>
        <p:nvSpPr>
          <p:cNvPr id="5" name="ZoneTexte 4">
            <a:extLst>
              <a:ext uri="{FF2B5EF4-FFF2-40B4-BE49-F238E27FC236}">
                <a16:creationId xmlns:a16="http://schemas.microsoft.com/office/drawing/2014/main" id="{42EC5097-4EEE-1F87-3418-7ABD46E71C06}"/>
              </a:ext>
            </a:extLst>
          </p:cNvPr>
          <p:cNvSpPr txBox="1"/>
          <p:nvPr/>
        </p:nvSpPr>
        <p:spPr>
          <a:xfrm>
            <a:off x="10555550" y="6380820"/>
            <a:ext cx="1802167" cy="338554"/>
          </a:xfrm>
          <a:prstGeom prst="rect">
            <a:avLst/>
          </a:prstGeom>
          <a:noFill/>
        </p:spPr>
        <p:txBody>
          <a:bodyPr wrap="square" rtlCol="0">
            <a:spAutoFit/>
          </a:bodyPr>
          <a:lstStyle/>
          <a:p>
            <a:r>
              <a:rPr lang="fr-FR" sz="1600" dirty="0">
                <a:solidFill>
                  <a:schemeClr val="tx1">
                    <a:lumMod val="85000"/>
                  </a:schemeClr>
                </a:solidFill>
                <a:latin typeface="Arial" panose="020B0604020202020204" pitchFamily="34" charset="0"/>
                <a:cs typeface="Arial" panose="020B0604020202020204" pitchFamily="34" charset="0"/>
              </a:rPr>
              <a:t>Eagle57#5517</a:t>
            </a:r>
          </a:p>
        </p:txBody>
      </p:sp>
    </p:spTree>
    <p:extLst>
      <p:ext uri="{BB962C8B-B14F-4D97-AF65-F5344CB8AC3E}">
        <p14:creationId xmlns:p14="http://schemas.microsoft.com/office/powerpoint/2010/main" val="3774860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spc="-50" dirty="0">
                <a:latin typeface="Arial" panose="020B0604020202020204" pitchFamily="34" charset="0"/>
                <a:ea typeface="Adobe Heiti Std R" panose="020B0400000000000000" pitchFamily="34" charset="-128"/>
                <a:cs typeface="Arial" panose="020B0604020202020204" pitchFamily="34" charset="0"/>
              </a:rPr>
              <a:t>Prérequis</a:t>
            </a:r>
          </a:p>
        </p:txBody>
      </p:sp>
      <p:sp>
        <p:nvSpPr>
          <p:cNvPr id="14" name="ZoneTexte 13">
            <a:extLst>
              <a:ext uri="{FF2B5EF4-FFF2-40B4-BE49-F238E27FC236}">
                <a16:creationId xmlns:a16="http://schemas.microsoft.com/office/drawing/2014/main" id="{6E997E16-5DD0-CEAB-FF84-1728DDCA95A0}"/>
              </a:ext>
            </a:extLst>
          </p:cNvPr>
          <p:cNvSpPr txBox="1"/>
          <p:nvPr/>
        </p:nvSpPr>
        <p:spPr>
          <a:xfrm>
            <a:off x="1350628" y="1997839"/>
            <a:ext cx="9521504" cy="2585323"/>
          </a:xfrm>
          <a:prstGeom prst="rect">
            <a:avLst/>
          </a:prstGeom>
          <a:noFill/>
        </p:spPr>
        <p:txBody>
          <a:bodyPr wrap="square" rtlCol="0">
            <a:spAutoFit/>
          </a:bodyPr>
          <a:lstStyle/>
          <a:p>
            <a:pPr marL="285750" indent="-285750">
              <a:buFont typeface="Arial" panose="020B0604020202020204" pitchFamily="34" charset="0"/>
              <a:buChar char="•"/>
            </a:pPr>
            <a:r>
              <a:rPr lang="fr-FR" dirty="0">
                <a:latin typeface="Arial" panose="020B0604020202020204" pitchFamily="34" charset="0"/>
                <a:ea typeface="Adobe Heiti Std R" panose="020B0400000000000000" pitchFamily="34" charset="-128"/>
                <a:cs typeface="Arial" panose="020B0604020202020204" pitchFamily="34" charset="0"/>
              </a:rPr>
              <a:t>Python 3.8+ est nécessaire, si vous ne l’avez pas, installez le via ce lien : </a:t>
            </a:r>
            <a:r>
              <a:rPr lang="fr-FR" dirty="0">
                <a:latin typeface="Arial" panose="020B0604020202020204" pitchFamily="34" charset="0"/>
                <a:ea typeface="Adobe Heiti Std R" panose="020B0400000000000000" pitchFamily="34" charset="-128"/>
                <a:cs typeface="Arial" panose="020B0604020202020204" pitchFamily="34" charset="0"/>
                <a:hlinkClick r:id="rId2"/>
              </a:rPr>
              <a:t>https://www.python.org/downloads/</a:t>
            </a:r>
            <a:r>
              <a:rPr lang="fr-FR" dirty="0">
                <a:latin typeface="Arial" panose="020B0604020202020204" pitchFamily="34" charset="0"/>
                <a:ea typeface="Adobe Heiti Std R" panose="020B0400000000000000" pitchFamily="34" charset="-128"/>
                <a:cs typeface="Arial" panose="020B0604020202020204" pitchFamily="34" charset="0"/>
              </a:rPr>
              <a:t> </a:t>
            </a:r>
          </a:p>
          <a:p>
            <a:endParaRPr lang="fr-FR" dirty="0">
              <a:latin typeface="Arial" panose="020B0604020202020204" pitchFamily="34" charset="0"/>
              <a:ea typeface="Adobe Heiti Std R" panose="020B0400000000000000" pitchFamily="34" charset="-128"/>
              <a:cs typeface="Arial" panose="020B0604020202020204" pitchFamily="34" charset="0"/>
            </a:endParaRPr>
          </a:p>
          <a:p>
            <a:pPr marL="285750" indent="-285750">
              <a:buFont typeface="Arial" panose="020B0604020202020204" pitchFamily="34" charset="0"/>
              <a:buChar char="•"/>
            </a:pPr>
            <a:r>
              <a:rPr lang="fr-FR" dirty="0">
                <a:latin typeface="Arial" panose="020B0604020202020204" pitchFamily="34" charset="0"/>
                <a:ea typeface="Adobe Heiti Std R" panose="020B0400000000000000" pitchFamily="34" charset="-128"/>
                <a:cs typeface="Arial" panose="020B0604020202020204" pitchFamily="34" charset="0"/>
              </a:rPr>
              <a:t>Si vous avez des forks de discord.py comme </a:t>
            </a:r>
            <a:r>
              <a:rPr lang="fr-FR" dirty="0" err="1">
                <a:latin typeface="Arial" panose="020B0604020202020204" pitchFamily="34" charset="0"/>
                <a:ea typeface="Adobe Heiti Std R" panose="020B0400000000000000" pitchFamily="34" charset="-128"/>
                <a:cs typeface="Arial" panose="020B0604020202020204" pitchFamily="34" charset="0"/>
              </a:rPr>
              <a:t>pycord</a:t>
            </a:r>
            <a:r>
              <a:rPr lang="fr-FR" dirty="0">
                <a:latin typeface="Arial" panose="020B0604020202020204" pitchFamily="34" charset="0"/>
                <a:ea typeface="Adobe Heiti Std R" panose="020B0400000000000000" pitchFamily="34" charset="-128"/>
                <a:cs typeface="Arial" panose="020B0604020202020204" pitchFamily="34" charset="0"/>
              </a:rPr>
              <a:t> ou </a:t>
            </a:r>
            <a:r>
              <a:rPr lang="fr-FR" dirty="0" err="1">
                <a:latin typeface="Arial" panose="020B0604020202020204" pitchFamily="34" charset="0"/>
                <a:ea typeface="Adobe Heiti Std R" panose="020B0400000000000000" pitchFamily="34" charset="-128"/>
                <a:cs typeface="Arial" panose="020B0604020202020204" pitchFamily="34" charset="0"/>
              </a:rPr>
              <a:t>nextcord</a:t>
            </a:r>
            <a:r>
              <a:rPr lang="fr-FR" dirty="0">
                <a:latin typeface="Arial" panose="020B0604020202020204" pitchFamily="34" charset="0"/>
                <a:ea typeface="Adobe Heiti Std R" panose="020B0400000000000000" pitchFamily="34" charset="-128"/>
                <a:cs typeface="Arial" panose="020B0604020202020204" pitchFamily="34" charset="0"/>
              </a:rPr>
              <a:t>, vous devez les désinstaller avant d’utiliser discord.py</a:t>
            </a:r>
          </a:p>
          <a:p>
            <a:endParaRPr lang="fr-FR" dirty="0">
              <a:latin typeface="Arial" panose="020B0604020202020204" pitchFamily="34" charset="0"/>
              <a:ea typeface="Adobe Heiti Std R" panose="020B0400000000000000" pitchFamily="34" charset="-128"/>
              <a:cs typeface="Arial" panose="020B0604020202020204" pitchFamily="34" charset="0"/>
            </a:endParaRPr>
          </a:p>
          <a:p>
            <a:pPr marL="285750" indent="-285750">
              <a:buFont typeface="Arial" panose="020B0604020202020204" pitchFamily="34" charset="0"/>
              <a:buChar char="•"/>
            </a:pPr>
            <a:r>
              <a:rPr lang="fr-FR" b="1" dirty="0">
                <a:latin typeface="Arial" panose="020B0604020202020204" pitchFamily="34" charset="0"/>
                <a:ea typeface="Adobe Heiti Std R" panose="020B0400000000000000" pitchFamily="34" charset="-128"/>
                <a:cs typeface="Arial" panose="020B0604020202020204" pitchFamily="34" charset="0"/>
              </a:rPr>
              <a:t>Important :</a:t>
            </a:r>
            <a:br>
              <a:rPr lang="fr-FR" dirty="0">
                <a:latin typeface="Arial" panose="020B0604020202020204" pitchFamily="34" charset="0"/>
                <a:ea typeface="Adobe Heiti Std R" panose="020B0400000000000000" pitchFamily="34" charset="-128"/>
                <a:cs typeface="Arial" panose="020B0604020202020204" pitchFamily="34" charset="0"/>
              </a:rPr>
            </a:br>
            <a:r>
              <a:rPr lang="fr-FR" dirty="0">
                <a:latin typeface="Arial" panose="020B0604020202020204" pitchFamily="34" charset="0"/>
                <a:ea typeface="Adobe Heiti Std R" panose="020B0400000000000000" pitchFamily="34" charset="-128"/>
                <a:cs typeface="Arial" panose="020B0604020202020204" pitchFamily="34" charset="0"/>
              </a:rPr>
              <a:t>Vous devez connaître les bases de python (surtout la POO), commencer par des librairies comme discord.py pour apprendre le python est une mauvaise idée.</a:t>
            </a:r>
          </a:p>
        </p:txBody>
      </p:sp>
    </p:spTree>
    <p:extLst>
      <p:ext uri="{BB962C8B-B14F-4D97-AF65-F5344CB8AC3E}">
        <p14:creationId xmlns:p14="http://schemas.microsoft.com/office/powerpoint/2010/main" val="1216806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Installation de la librairie discord.py</a:t>
            </a:r>
          </a:p>
        </p:txBody>
      </p:sp>
      <p:sp>
        <p:nvSpPr>
          <p:cNvPr id="14" name="ZoneTexte 13">
            <a:extLst>
              <a:ext uri="{FF2B5EF4-FFF2-40B4-BE49-F238E27FC236}">
                <a16:creationId xmlns:a16="http://schemas.microsoft.com/office/drawing/2014/main" id="{6E997E16-5DD0-CEAB-FF84-1728DDCA95A0}"/>
              </a:ext>
            </a:extLst>
          </p:cNvPr>
          <p:cNvSpPr txBox="1"/>
          <p:nvPr/>
        </p:nvSpPr>
        <p:spPr>
          <a:xfrm>
            <a:off x="740886" y="1543574"/>
            <a:ext cx="8369557" cy="369332"/>
          </a:xfrm>
          <a:prstGeom prst="rect">
            <a:avLst/>
          </a:prstGeom>
          <a:noFill/>
        </p:spPr>
        <p:txBody>
          <a:bodyPr wrap="square" rtlCol="0">
            <a:spAutoFit/>
          </a:bodyPr>
          <a:lstStyle/>
          <a:p>
            <a:r>
              <a:rPr lang="fr-FR" dirty="0">
                <a:latin typeface="Arial" panose="020B0604020202020204" pitchFamily="34" charset="0"/>
                <a:ea typeface="Adobe Heiti Std R" panose="020B0400000000000000" pitchFamily="34" charset="-128"/>
                <a:cs typeface="Arial" panose="020B0604020202020204" pitchFamily="34" charset="0"/>
              </a:rPr>
              <a:t>Dans votre invite de commande, taper cette ligne puis appuyez sur entrer.</a:t>
            </a:r>
          </a:p>
        </p:txBody>
      </p:sp>
      <p:pic>
        <p:nvPicPr>
          <p:cNvPr id="6" name="Image 5">
            <a:extLst>
              <a:ext uri="{FF2B5EF4-FFF2-40B4-BE49-F238E27FC236}">
                <a16:creationId xmlns:a16="http://schemas.microsoft.com/office/drawing/2014/main" id="{F69C3E99-46C7-F8C2-C595-C47A04BFC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886" y="1934466"/>
            <a:ext cx="6842762" cy="3379960"/>
          </a:xfrm>
          <a:prstGeom prst="rect">
            <a:avLst/>
          </a:prstGeom>
        </p:spPr>
      </p:pic>
    </p:spTree>
    <p:extLst>
      <p:ext uri="{BB962C8B-B14F-4D97-AF65-F5344CB8AC3E}">
        <p14:creationId xmlns:p14="http://schemas.microsoft.com/office/powerpoint/2010/main" val="2015734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La base de votre bot</a:t>
            </a:r>
          </a:p>
        </p:txBody>
      </p:sp>
      <p:sp>
        <p:nvSpPr>
          <p:cNvPr id="5" name="ZoneTexte 4">
            <a:extLst>
              <a:ext uri="{FF2B5EF4-FFF2-40B4-BE49-F238E27FC236}">
                <a16:creationId xmlns:a16="http://schemas.microsoft.com/office/drawing/2014/main" id="{959357B2-3CDE-782B-8921-BE449DE67D22}"/>
              </a:ext>
            </a:extLst>
          </p:cNvPr>
          <p:cNvSpPr txBox="1"/>
          <p:nvPr/>
        </p:nvSpPr>
        <p:spPr>
          <a:xfrm>
            <a:off x="5996468" y="925366"/>
            <a:ext cx="5704301" cy="4616648"/>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Ce code est la base de votre bot, elle devra être mise dans un fichier python, que l’on appellera « main.py ».</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a:p>
            <a:r>
              <a:rPr lang="fr-FR" sz="1400" dirty="0">
                <a:latin typeface="Arial" panose="020B0604020202020204" pitchFamily="34" charset="0"/>
                <a:ea typeface="Adobe Heiti Std R" panose="020B0400000000000000" pitchFamily="34" charset="-128"/>
                <a:cs typeface="Arial" panose="020B0604020202020204" pitchFamily="34" charset="0"/>
              </a:rPr>
              <a:t>Explication du code:</a:t>
            </a: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On commence par importer la libraire discord.py, ainsi que le module « </a:t>
            </a:r>
            <a:r>
              <a:rPr lang="fr-FR" sz="1400" dirty="0" err="1">
                <a:latin typeface="Arial" panose="020B0604020202020204" pitchFamily="34" charset="0"/>
                <a:ea typeface="Adobe Heiti Std R" panose="020B0400000000000000" pitchFamily="34" charset="-128"/>
                <a:cs typeface="Arial" panose="020B0604020202020204" pitchFamily="34" charset="0"/>
              </a:rPr>
              <a:t>commands</a:t>
            </a:r>
            <a:r>
              <a:rPr lang="fr-FR" sz="1400" dirty="0">
                <a:latin typeface="Arial" panose="020B0604020202020204" pitchFamily="34" charset="0"/>
                <a:ea typeface="Adobe Heiti Std R" panose="020B0400000000000000" pitchFamily="34" charset="-128"/>
                <a:cs typeface="Arial" panose="020B0604020202020204" pitchFamily="34" charset="0"/>
              </a:rPr>
              <a:t> », que nous allons utiliser pour créer notre base de bot.</a:t>
            </a:r>
          </a:p>
          <a:p>
            <a:pPr marL="285750" indent="-285750">
              <a:buFont typeface="Arial" panose="020B0604020202020204" pitchFamily="34" charset="0"/>
              <a:buChar char="•"/>
            </a:pPr>
            <a:endParaRPr lang="fr-FR" sz="1400" dirty="0">
              <a:latin typeface="Arial" panose="020B0604020202020204" pitchFamily="34" charset="0"/>
              <a:ea typeface="Adobe Heiti Std R" panose="020B0400000000000000" pitchFamily="34" charset="-128"/>
              <a:cs typeface="Arial" panose="020B0604020202020204" pitchFamily="34" charset="0"/>
            </a:endParaRP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On crée une classe qui hérite de « </a:t>
            </a:r>
            <a:r>
              <a:rPr lang="fr-FR" sz="1400" dirty="0" err="1">
                <a:latin typeface="Arial" panose="020B0604020202020204" pitchFamily="34" charset="0"/>
                <a:ea typeface="Adobe Heiti Std R" panose="020B0400000000000000" pitchFamily="34" charset="-128"/>
                <a:cs typeface="Arial" panose="020B0604020202020204" pitchFamily="34" charset="0"/>
              </a:rPr>
              <a:t>commands.Bot</a:t>
            </a:r>
            <a:r>
              <a:rPr lang="fr-FR" sz="1400" dirty="0">
                <a:latin typeface="Arial" panose="020B0604020202020204" pitchFamily="34" charset="0"/>
                <a:ea typeface="Adobe Heiti Std R" panose="020B0400000000000000" pitchFamily="34" charset="-128"/>
                <a:cs typeface="Arial" panose="020B0604020202020204" pitchFamily="34" charset="0"/>
              </a:rPr>
              <a:t> », que l’on appelle grâce à la ligne « </a:t>
            </a:r>
            <a:r>
              <a:rPr lang="fr-FR" sz="1200" b="0" dirty="0">
                <a:solidFill>
                  <a:srgbClr val="4EC9B0"/>
                </a:solidFill>
                <a:effectLst/>
                <a:latin typeface="Consolas" panose="020B0609020204030204" pitchFamily="49" charset="0"/>
              </a:rPr>
              <a:t>super</a:t>
            </a:r>
            <a:r>
              <a:rPr lang="fr-FR" sz="1200" b="0" dirty="0">
                <a:solidFill>
                  <a:srgbClr val="D4D4D4"/>
                </a:solidFill>
                <a:effectLst/>
                <a:latin typeface="Consolas" panose="020B0609020204030204" pitchFamily="49" charset="0"/>
              </a:rPr>
              <a:t>().</a:t>
            </a:r>
            <a:r>
              <a:rPr lang="fr-FR" sz="1200" b="0" dirty="0">
                <a:solidFill>
                  <a:srgbClr val="DCDCAA"/>
                </a:solidFill>
                <a:effectLst/>
                <a:latin typeface="Consolas" panose="020B0609020204030204" pitchFamily="49" charset="0"/>
              </a:rPr>
              <a:t>__init__</a:t>
            </a:r>
            <a:r>
              <a:rPr lang="fr-FR" sz="1200" b="0" dirty="0">
                <a:solidFill>
                  <a:srgbClr val="D4D4D4"/>
                </a:solidFill>
                <a:effectLst/>
                <a:latin typeface="Consolas" panose="020B0609020204030204" pitchFamily="49" charset="0"/>
              </a:rPr>
              <a:t>()</a:t>
            </a:r>
            <a:r>
              <a:rPr lang="fr-FR" sz="1400" dirty="0">
                <a:latin typeface="Arial" panose="020B0604020202020204" pitchFamily="34" charset="0"/>
                <a:ea typeface="Adobe Heiti Std R" panose="020B0400000000000000" pitchFamily="34" charset="-128"/>
                <a:cs typeface="Arial" panose="020B0604020202020204" pitchFamily="34" charset="0"/>
              </a:rPr>
              <a:t>».</a:t>
            </a:r>
            <a:br>
              <a:rPr lang="fr-FR" sz="1400" dirty="0">
                <a:latin typeface="Arial" panose="020B0604020202020204" pitchFamily="34" charset="0"/>
                <a:ea typeface="Adobe Heiti Std R" panose="020B0400000000000000" pitchFamily="34" charset="-128"/>
                <a:cs typeface="Arial" panose="020B0604020202020204" pitchFamily="34" charset="0"/>
              </a:rPr>
            </a:br>
            <a:r>
              <a:rPr lang="fr-FR" sz="1400" dirty="0">
                <a:latin typeface="Arial" panose="020B0604020202020204" pitchFamily="34" charset="0"/>
                <a:ea typeface="Adobe Heiti Std R" panose="020B0400000000000000" pitchFamily="34" charset="-128"/>
                <a:cs typeface="Arial" panose="020B0604020202020204" pitchFamily="34" charset="0"/>
              </a:rPr>
              <a:t>Les paramètres « </a:t>
            </a:r>
            <a:r>
              <a:rPr lang="fr-FR" sz="1400" dirty="0" err="1">
                <a:latin typeface="Arial" panose="020B0604020202020204" pitchFamily="34" charset="0"/>
                <a:ea typeface="Adobe Heiti Std R" panose="020B0400000000000000" pitchFamily="34" charset="-128"/>
                <a:cs typeface="Arial" panose="020B0604020202020204" pitchFamily="34" charset="0"/>
              </a:rPr>
              <a:t>intents</a:t>
            </a:r>
            <a:r>
              <a:rPr lang="fr-FR" sz="1400" dirty="0">
                <a:latin typeface="Arial" panose="020B0604020202020204" pitchFamily="34" charset="0"/>
                <a:ea typeface="Adobe Heiti Std R" panose="020B0400000000000000" pitchFamily="34" charset="-128"/>
                <a:cs typeface="Arial" panose="020B0604020202020204" pitchFamily="34" charset="0"/>
              </a:rPr>
              <a:t> » et « </a:t>
            </a:r>
            <a:r>
              <a:rPr lang="fr-FR" sz="1400" dirty="0" err="1">
                <a:latin typeface="Arial" panose="020B0604020202020204" pitchFamily="34" charset="0"/>
                <a:ea typeface="Adobe Heiti Std R" panose="020B0400000000000000" pitchFamily="34" charset="-128"/>
                <a:cs typeface="Arial" panose="020B0604020202020204" pitchFamily="34" charset="0"/>
              </a:rPr>
              <a:t>command_prefix</a:t>
            </a:r>
            <a:r>
              <a:rPr lang="fr-FR" sz="1400" dirty="0">
                <a:latin typeface="Arial" panose="020B0604020202020204" pitchFamily="34" charset="0"/>
                <a:ea typeface="Adobe Heiti Std R" panose="020B0400000000000000" pitchFamily="34" charset="-128"/>
                <a:cs typeface="Arial" panose="020B0604020202020204" pitchFamily="34" charset="0"/>
              </a:rPr>
              <a:t> » sont obligatoires. Le premier est « </a:t>
            </a:r>
            <a:r>
              <a:rPr lang="fr-FR" sz="1400" dirty="0" err="1">
                <a:latin typeface="Arial" panose="020B0604020202020204" pitchFamily="34" charset="0"/>
                <a:ea typeface="Adobe Heiti Std R" panose="020B0400000000000000" pitchFamily="34" charset="-128"/>
                <a:cs typeface="Arial" panose="020B0604020202020204" pitchFamily="34" charset="0"/>
              </a:rPr>
              <a:t>intents</a:t>
            </a:r>
            <a:r>
              <a:rPr lang="fr-FR" sz="1400" dirty="0">
                <a:latin typeface="Arial" panose="020B0604020202020204" pitchFamily="34" charset="0"/>
                <a:ea typeface="Adobe Heiti Std R" panose="020B0400000000000000" pitchFamily="34" charset="-128"/>
                <a:cs typeface="Arial" panose="020B0604020202020204" pitchFamily="34" charset="0"/>
              </a:rPr>
              <a:t> », qui sont des « abonnements » à des informations que votre bot peut utiliser. Vous pouvez tous les activer grâce à « </a:t>
            </a:r>
            <a:r>
              <a:rPr lang="fr-FR" sz="1200" b="0" dirty="0" err="1">
                <a:solidFill>
                  <a:srgbClr val="4EC9B0"/>
                </a:solidFill>
                <a:effectLst/>
                <a:latin typeface="Consolas" panose="020B0609020204030204" pitchFamily="49" charset="0"/>
              </a:rPr>
              <a:t>discord</a:t>
            </a:r>
            <a:r>
              <a:rPr lang="fr-FR" sz="1200" b="0" dirty="0" err="1">
                <a:solidFill>
                  <a:srgbClr val="D4D4D4"/>
                </a:solidFill>
                <a:effectLst/>
                <a:latin typeface="Consolas" panose="020B0609020204030204" pitchFamily="49" charset="0"/>
              </a:rPr>
              <a:t>.</a:t>
            </a:r>
            <a:r>
              <a:rPr lang="fr-FR" sz="1200" b="0" dirty="0" err="1">
                <a:solidFill>
                  <a:srgbClr val="4EC9B0"/>
                </a:solidFill>
                <a:effectLst/>
                <a:latin typeface="Consolas" panose="020B0609020204030204" pitchFamily="49" charset="0"/>
              </a:rPr>
              <a:t>Intents</a:t>
            </a:r>
            <a:r>
              <a:rPr lang="fr-FR" sz="1200" b="0" dirty="0" err="1">
                <a:solidFill>
                  <a:srgbClr val="D4D4D4"/>
                </a:solidFill>
                <a:effectLst/>
                <a:latin typeface="Consolas" panose="020B0609020204030204" pitchFamily="49" charset="0"/>
              </a:rPr>
              <a:t>.</a:t>
            </a:r>
            <a:r>
              <a:rPr lang="fr-FR" sz="1200" b="0" dirty="0" err="1">
                <a:solidFill>
                  <a:srgbClr val="DCDCAA"/>
                </a:solidFill>
                <a:effectLst/>
                <a:latin typeface="Consolas" panose="020B0609020204030204" pitchFamily="49" charset="0"/>
              </a:rPr>
              <a:t>all</a:t>
            </a:r>
            <a:r>
              <a:rPr lang="fr-FR" sz="1200" b="0" dirty="0">
                <a:solidFill>
                  <a:srgbClr val="D4D4D4"/>
                </a:solidFill>
                <a:effectLst/>
                <a:latin typeface="Consolas" panose="020B0609020204030204" pitchFamily="49" charset="0"/>
              </a:rPr>
              <a:t>()</a:t>
            </a:r>
            <a:r>
              <a:rPr lang="fr-FR" sz="1400" dirty="0">
                <a:latin typeface="Arial" panose="020B0604020202020204" pitchFamily="34" charset="0"/>
                <a:ea typeface="Adobe Heiti Std R" panose="020B0400000000000000" pitchFamily="34" charset="-128"/>
                <a:cs typeface="Arial" panose="020B0604020202020204" pitchFamily="34" charset="0"/>
              </a:rPr>
              <a:t>», soit les activer un par un (plus de détails plus tard).</a:t>
            </a:r>
          </a:p>
          <a:p>
            <a:pPr marL="285750" indent="-285750">
              <a:buFont typeface="Arial" panose="020B0604020202020204" pitchFamily="34" charset="0"/>
              <a:buChar char="•"/>
            </a:pPr>
            <a:endParaRPr lang="fr-FR" sz="1400" dirty="0">
              <a:latin typeface="Arial" panose="020B0604020202020204" pitchFamily="34" charset="0"/>
              <a:ea typeface="Adobe Heiti Std R" panose="020B0400000000000000" pitchFamily="34" charset="-128"/>
              <a:cs typeface="Arial" panose="020B0604020202020204" pitchFamily="34" charset="0"/>
            </a:endParaRP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 </a:t>
            </a:r>
            <a:r>
              <a:rPr lang="fr-FR" sz="1200" b="0" dirty="0">
                <a:solidFill>
                  <a:srgbClr val="DCDCAA"/>
                </a:solidFill>
                <a:effectLst/>
                <a:latin typeface="Consolas" panose="020B0609020204030204" pitchFamily="49" charset="0"/>
              </a:rPr>
              <a:t>@bot.event </a:t>
            </a:r>
            <a:r>
              <a:rPr lang="fr-FR" sz="1400" dirty="0">
                <a:latin typeface="Arial" panose="020B0604020202020204" pitchFamily="34" charset="0"/>
                <a:ea typeface="Adobe Heiti Std R" panose="020B0400000000000000" pitchFamily="34" charset="-128"/>
                <a:cs typeface="Arial" panose="020B0604020202020204" pitchFamily="34" charset="0"/>
              </a:rPr>
              <a:t>» et « </a:t>
            </a:r>
            <a:r>
              <a:rPr lang="fr-FR" sz="1200" b="0" dirty="0" err="1">
                <a:solidFill>
                  <a:srgbClr val="569CD6"/>
                </a:solidFill>
                <a:effectLst/>
                <a:latin typeface="Consolas" panose="020B0609020204030204" pitchFamily="49" charset="0"/>
              </a:rPr>
              <a:t>async</a:t>
            </a:r>
            <a:r>
              <a:rPr lang="fr-FR" sz="1200" b="0" dirty="0">
                <a:solidFill>
                  <a:srgbClr val="D4D4D4"/>
                </a:solidFill>
                <a:effectLst/>
                <a:latin typeface="Consolas" panose="020B0609020204030204" pitchFamily="49" charset="0"/>
              </a:rPr>
              <a:t> </a:t>
            </a:r>
            <a:r>
              <a:rPr lang="fr-FR" sz="1200" b="0" dirty="0" err="1">
                <a:solidFill>
                  <a:srgbClr val="569CD6"/>
                </a:solidFill>
                <a:effectLst/>
                <a:latin typeface="Consolas" panose="020B0609020204030204" pitchFamily="49" charset="0"/>
              </a:rPr>
              <a:t>def</a:t>
            </a:r>
            <a:r>
              <a:rPr lang="fr-FR" sz="1200" b="0" dirty="0">
                <a:solidFill>
                  <a:srgbClr val="D4D4D4"/>
                </a:solidFill>
                <a:effectLst/>
                <a:latin typeface="Consolas" panose="020B0609020204030204" pitchFamily="49" charset="0"/>
              </a:rPr>
              <a:t> </a:t>
            </a:r>
            <a:r>
              <a:rPr lang="fr-FR" sz="1200" b="0" dirty="0" err="1">
                <a:solidFill>
                  <a:srgbClr val="DCDCAA"/>
                </a:solidFill>
                <a:effectLst/>
                <a:latin typeface="Consolas" panose="020B0609020204030204" pitchFamily="49" charset="0"/>
              </a:rPr>
              <a:t>on_ready</a:t>
            </a:r>
            <a:r>
              <a:rPr lang="fr-FR" sz="1200" b="0" dirty="0">
                <a:solidFill>
                  <a:srgbClr val="D4D4D4"/>
                </a:solidFill>
                <a:effectLst/>
                <a:latin typeface="Consolas" panose="020B0609020204030204" pitchFamily="49" charset="0"/>
              </a:rPr>
              <a:t>():</a:t>
            </a:r>
            <a:r>
              <a:rPr lang="fr-FR" sz="1400" dirty="0">
                <a:latin typeface="Arial" panose="020B0604020202020204" pitchFamily="34" charset="0"/>
                <a:ea typeface="Adobe Heiti Std R" panose="020B0400000000000000" pitchFamily="34" charset="-128"/>
                <a:cs typeface="Arial" panose="020B0604020202020204" pitchFamily="34" charset="0"/>
              </a:rPr>
              <a:t>» servent à crée un </a:t>
            </a:r>
            <a:r>
              <a:rPr lang="fr-FR" sz="1400" dirty="0" err="1">
                <a:latin typeface="Arial" panose="020B0604020202020204" pitchFamily="34" charset="0"/>
                <a:ea typeface="Adobe Heiti Std R" panose="020B0400000000000000" pitchFamily="34" charset="-128"/>
                <a:cs typeface="Arial" panose="020B0604020202020204" pitchFamily="34" charset="0"/>
              </a:rPr>
              <a:t>évenement</a:t>
            </a:r>
            <a:r>
              <a:rPr lang="fr-FR" sz="1400" dirty="0">
                <a:latin typeface="Arial" panose="020B0604020202020204" pitchFamily="34" charset="0"/>
                <a:ea typeface="Adobe Heiti Std R" panose="020B0400000000000000" pitchFamily="34" charset="-128"/>
                <a:cs typeface="Arial" panose="020B0604020202020204" pitchFamily="34" charset="0"/>
              </a:rPr>
              <a:t> qui est activé lors du </a:t>
            </a:r>
            <a:r>
              <a:rPr lang="fr-FR" sz="1400" dirty="0" err="1">
                <a:latin typeface="Arial" panose="020B0604020202020204" pitchFamily="34" charset="0"/>
                <a:ea typeface="Adobe Heiti Std R" panose="020B0400000000000000" pitchFamily="34" charset="-128"/>
                <a:cs typeface="Arial" panose="020B0604020202020204" pitchFamily="34" charset="0"/>
              </a:rPr>
              <a:t>démarage</a:t>
            </a:r>
            <a:r>
              <a:rPr lang="fr-FR" sz="1400" dirty="0">
                <a:latin typeface="Arial" panose="020B0604020202020204" pitchFamily="34" charset="0"/>
                <a:ea typeface="Adobe Heiti Std R" panose="020B0400000000000000" pitchFamily="34" charset="-128"/>
                <a:cs typeface="Arial" panose="020B0604020202020204" pitchFamily="34" charset="0"/>
              </a:rPr>
              <a:t> du bot.</a:t>
            </a:r>
          </a:p>
          <a:p>
            <a:pPr marL="285750" indent="-285750">
              <a:buFont typeface="Arial" panose="020B0604020202020204" pitchFamily="34" charset="0"/>
              <a:buChar char="•"/>
            </a:pPr>
            <a:endParaRPr lang="fr-FR" sz="1400" dirty="0">
              <a:latin typeface="Arial" panose="020B0604020202020204" pitchFamily="34" charset="0"/>
              <a:ea typeface="Adobe Heiti Std R" panose="020B0400000000000000" pitchFamily="34" charset="-128"/>
              <a:cs typeface="Arial" panose="020B0604020202020204" pitchFamily="34" charset="0"/>
            </a:endParaRP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La ligne « </a:t>
            </a:r>
            <a:r>
              <a:rPr lang="fr-FR" sz="1400" dirty="0" err="1">
                <a:latin typeface="Arial" panose="020B0604020202020204" pitchFamily="34" charset="0"/>
                <a:ea typeface="Adobe Heiti Std R" panose="020B0400000000000000" pitchFamily="34" charset="-128"/>
                <a:cs typeface="Arial" panose="020B0604020202020204" pitchFamily="34" charset="0"/>
              </a:rPr>
              <a:t>bot.run</a:t>
            </a:r>
            <a:r>
              <a:rPr lang="fr-FR" sz="1400" dirty="0">
                <a:latin typeface="Arial" panose="020B0604020202020204" pitchFamily="34" charset="0"/>
                <a:ea typeface="Adobe Heiti Std R" panose="020B0400000000000000" pitchFamily="34" charset="-128"/>
                <a:cs typeface="Arial" panose="020B0604020202020204" pitchFamily="34" charset="0"/>
              </a:rPr>
              <a:t>(…) » lance le bot. Vous devez y mettre votre </a:t>
            </a:r>
            <a:r>
              <a:rPr lang="fr-FR" sz="1400" dirty="0" err="1">
                <a:latin typeface="Arial" panose="020B0604020202020204" pitchFamily="34" charset="0"/>
                <a:ea typeface="Adobe Heiti Std R" panose="020B0400000000000000" pitchFamily="34" charset="-128"/>
                <a:cs typeface="Arial" panose="020B0604020202020204" pitchFamily="34" charset="0"/>
              </a:rPr>
              <a:t>token</a:t>
            </a:r>
            <a:r>
              <a:rPr lang="fr-FR" sz="1400" dirty="0">
                <a:latin typeface="Arial" panose="020B0604020202020204" pitchFamily="34" charset="0"/>
                <a:ea typeface="Adobe Heiti Std R" panose="020B0400000000000000" pitchFamily="34" charset="-128"/>
                <a:cs typeface="Arial" panose="020B0604020202020204" pitchFamily="34" charset="0"/>
              </a:rPr>
              <a:t> (autre technique et explications plus tard).</a:t>
            </a:r>
          </a:p>
        </p:txBody>
      </p:sp>
      <p:pic>
        <p:nvPicPr>
          <p:cNvPr id="8" name="Image 7">
            <a:extLst>
              <a:ext uri="{FF2B5EF4-FFF2-40B4-BE49-F238E27FC236}">
                <a16:creationId xmlns:a16="http://schemas.microsoft.com/office/drawing/2014/main" id="{4EC82442-8B5D-2101-28D5-7FDB646B55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887" y="681875"/>
            <a:ext cx="5065640" cy="5718925"/>
          </a:xfrm>
          <a:prstGeom prst="rect">
            <a:avLst/>
          </a:prstGeom>
        </p:spPr>
      </p:pic>
    </p:spTree>
    <p:extLst>
      <p:ext uri="{BB962C8B-B14F-4D97-AF65-F5344CB8AC3E}">
        <p14:creationId xmlns:p14="http://schemas.microsoft.com/office/powerpoint/2010/main" val="15546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Les </a:t>
            </a:r>
            <a:r>
              <a:rPr lang="fr-FR" sz="2400" b="1" dirty="0" err="1">
                <a:latin typeface="Arial" panose="020B0604020202020204" pitchFamily="34" charset="0"/>
                <a:ea typeface="Adobe Heiti Std R" panose="020B0400000000000000" pitchFamily="34" charset="-128"/>
                <a:cs typeface="Arial" panose="020B0604020202020204" pitchFamily="34" charset="0"/>
              </a:rPr>
              <a:t>intents</a:t>
            </a:r>
            <a:endParaRPr lang="fr-FR" sz="2400" b="1" dirty="0">
              <a:latin typeface="Arial" panose="020B0604020202020204" pitchFamily="34" charset="0"/>
              <a:ea typeface="Adobe Heiti Std R" panose="020B0400000000000000" pitchFamily="34" charset="-128"/>
              <a:cs typeface="Arial" panose="020B0604020202020204" pitchFamily="34" charset="0"/>
            </a:endParaRPr>
          </a:p>
        </p:txBody>
      </p:sp>
      <p:sp>
        <p:nvSpPr>
          <p:cNvPr id="5" name="Rectangle 3">
            <a:extLst>
              <a:ext uri="{FF2B5EF4-FFF2-40B4-BE49-F238E27FC236}">
                <a16:creationId xmlns:a16="http://schemas.microsoft.com/office/drawing/2014/main" id="{5BAEEF24-2207-BCA6-6E7D-74586D275EEA}"/>
              </a:ext>
            </a:extLst>
          </p:cNvPr>
          <p:cNvSpPr>
            <a:spLocks noChangeArrowheads="1"/>
          </p:cNvSpPr>
          <p:nvPr/>
        </p:nvSpPr>
        <p:spPr bwMode="auto">
          <a:xfrm>
            <a:off x="740887" y="766732"/>
            <a:ext cx="10626571"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altLang="fr-FR" sz="1400" dirty="0">
                <a:latin typeface="Arial" panose="020B0604020202020204" pitchFamily="34" charset="0"/>
                <a:ea typeface="Adobe Heiti Std R" panose="020B0400000000000000" pitchFamily="34" charset="-128"/>
                <a:cs typeface="Arial" panose="020B0604020202020204" pitchFamily="34" charset="0"/>
              </a:rPr>
              <a:t>Les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intents</a:t>
            </a:r>
            <a:r>
              <a:rPr lang="fr-FR" altLang="fr-FR" sz="1400" dirty="0">
                <a:latin typeface="Arial" panose="020B0604020202020204" pitchFamily="34" charset="0"/>
                <a:ea typeface="Adobe Heiti Std R" panose="020B0400000000000000" pitchFamily="34" charset="-128"/>
                <a:cs typeface="Arial" panose="020B0604020202020204" pitchFamily="34" charset="0"/>
              </a:rPr>
              <a:t>" permettent à un bot de s'abonner à des groupes d'événements spécifiques. Il existe deux types d'</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intents</a:t>
            </a:r>
            <a:r>
              <a:rPr lang="fr-FR" altLang="fr-FR" sz="1400" dirty="0">
                <a:latin typeface="Arial" panose="020B0604020202020204" pitchFamily="34" charset="0"/>
                <a:ea typeface="Adobe Heiti Std R" panose="020B0400000000000000" pitchFamily="34" charset="-128"/>
                <a:cs typeface="Arial" panose="020B0604020202020204" pitchFamily="34" charset="0"/>
              </a:rPr>
              <a:t>:</a:t>
            </a:r>
          </a:p>
          <a:p>
            <a:pPr marL="285750" indent="-285750" defTabSz="914400" eaLnBrk="0" fontAlgn="base" hangingPunct="0">
              <a:spcBef>
                <a:spcPct val="0"/>
              </a:spcBef>
              <a:spcAft>
                <a:spcPct val="0"/>
              </a:spcAft>
              <a:buFont typeface="Arial" panose="020B0604020202020204" pitchFamily="34" charset="0"/>
              <a:buChar char="•"/>
            </a:pPr>
            <a:r>
              <a:rPr lang="fr-FR" altLang="fr-FR" sz="1400" dirty="0">
                <a:latin typeface="Arial" panose="020B0604020202020204" pitchFamily="34" charset="0"/>
                <a:ea typeface="Adobe Heiti Std R" panose="020B0400000000000000" pitchFamily="34" charset="-128"/>
                <a:cs typeface="Arial" panose="020B0604020202020204" pitchFamily="34" charset="0"/>
              </a:rPr>
              <a:t>Les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intents</a:t>
            </a:r>
            <a:r>
              <a:rPr lang="fr-FR" altLang="fr-FR" sz="1400" dirty="0">
                <a:latin typeface="Arial" panose="020B0604020202020204" pitchFamily="34" charset="0"/>
                <a:ea typeface="Adobe Heiti Std R" panose="020B0400000000000000" pitchFamily="34" charset="-128"/>
                <a:cs typeface="Arial" panose="020B0604020202020204" pitchFamily="34" charset="0"/>
              </a:rPr>
              <a:t> activés par défaut grâce à cette ligne:</a:t>
            </a:r>
            <a:br>
              <a:rPr lang="fr-FR" altLang="fr-FR" sz="1400" dirty="0">
                <a:latin typeface="Arial" panose="020B0604020202020204" pitchFamily="34" charset="0"/>
                <a:ea typeface="Adobe Heiti Std R" panose="020B0400000000000000" pitchFamily="34" charset="-128"/>
                <a:cs typeface="Arial" panose="020B0604020202020204" pitchFamily="34" charset="0"/>
              </a:rPr>
            </a:br>
            <a:r>
              <a:rPr lang="fr-FR" altLang="fr-FR" sz="1400" dirty="0">
                <a:latin typeface="Arial" panose="020B0604020202020204" pitchFamily="34" charset="0"/>
                <a:ea typeface="Adobe Heiti Std R" panose="020B0400000000000000" pitchFamily="34" charset="-128"/>
                <a:cs typeface="Arial" panose="020B0604020202020204" pitchFamily="34" charset="0"/>
              </a:rPr>
              <a:t>« </a:t>
            </a:r>
            <a:r>
              <a:rPr lang="fr-FR" sz="1200" b="0" dirty="0" err="1">
                <a:solidFill>
                  <a:srgbClr val="9CDCFE"/>
                </a:solidFill>
                <a:effectLst/>
                <a:latin typeface="Consolas" panose="020B0609020204030204" pitchFamily="49" charset="0"/>
              </a:rPr>
              <a:t>intents</a:t>
            </a:r>
            <a:r>
              <a:rPr lang="fr-FR" sz="1200" b="0" dirty="0">
                <a:solidFill>
                  <a:srgbClr val="D4D4D4"/>
                </a:solidFill>
                <a:effectLst/>
                <a:latin typeface="Consolas" panose="020B0609020204030204" pitchFamily="49" charset="0"/>
              </a:rPr>
              <a:t> = </a:t>
            </a:r>
            <a:r>
              <a:rPr lang="fr-FR" sz="1200" b="0" dirty="0" err="1">
                <a:solidFill>
                  <a:srgbClr val="4EC9B0"/>
                </a:solidFill>
                <a:effectLst/>
                <a:latin typeface="Consolas" panose="020B0609020204030204" pitchFamily="49" charset="0"/>
              </a:rPr>
              <a:t>discord</a:t>
            </a:r>
            <a:r>
              <a:rPr lang="fr-FR" sz="1200" b="0" dirty="0" err="1">
                <a:solidFill>
                  <a:srgbClr val="D4D4D4"/>
                </a:solidFill>
                <a:effectLst/>
                <a:latin typeface="Consolas" panose="020B0609020204030204" pitchFamily="49" charset="0"/>
              </a:rPr>
              <a:t>.</a:t>
            </a:r>
            <a:r>
              <a:rPr lang="fr-FR" sz="1200" b="0" dirty="0" err="1">
                <a:solidFill>
                  <a:srgbClr val="4EC9B0"/>
                </a:solidFill>
                <a:effectLst/>
                <a:latin typeface="Consolas" panose="020B0609020204030204" pitchFamily="49" charset="0"/>
              </a:rPr>
              <a:t>Intents</a:t>
            </a:r>
            <a:r>
              <a:rPr lang="fr-FR" sz="1200" b="0" dirty="0" err="1">
                <a:solidFill>
                  <a:srgbClr val="D4D4D4"/>
                </a:solidFill>
                <a:effectLst/>
                <a:latin typeface="Consolas" panose="020B0609020204030204" pitchFamily="49" charset="0"/>
              </a:rPr>
              <a:t>.</a:t>
            </a:r>
            <a:r>
              <a:rPr lang="fr-FR" sz="1200" b="0" dirty="0" err="1">
                <a:solidFill>
                  <a:srgbClr val="DCDCAA"/>
                </a:solidFill>
                <a:effectLst/>
                <a:latin typeface="Consolas" panose="020B0609020204030204" pitchFamily="49" charset="0"/>
              </a:rPr>
              <a:t>default</a:t>
            </a:r>
            <a:r>
              <a:rPr lang="fr-FR" sz="1200" b="0" dirty="0">
                <a:solidFill>
                  <a:srgbClr val="D4D4D4"/>
                </a:solidFill>
                <a:effectLst/>
                <a:latin typeface="Consolas" panose="020B0609020204030204" pitchFamily="49" charset="0"/>
              </a:rPr>
              <a:t>()</a:t>
            </a:r>
            <a:r>
              <a:rPr lang="fr-FR" sz="1200" b="0" dirty="0">
                <a:solidFill>
                  <a:srgbClr val="D4D4D4"/>
                </a:solidFill>
                <a:effectLst/>
                <a:latin typeface="Arial" panose="020B0604020202020204" pitchFamily="34" charset="0"/>
                <a:cs typeface="Arial" panose="020B0604020202020204" pitchFamily="34" charset="0"/>
              </a:rPr>
              <a:t> </a:t>
            </a:r>
            <a:r>
              <a:rPr lang="fr-FR" altLang="fr-FR" sz="1400" dirty="0">
                <a:latin typeface="Arial" panose="020B0604020202020204" pitchFamily="34" charset="0"/>
                <a:ea typeface="Adobe Heiti Std R" panose="020B0400000000000000" pitchFamily="34" charset="-128"/>
                <a:cs typeface="Arial" panose="020B0604020202020204" pitchFamily="34" charset="0"/>
              </a:rPr>
              <a:t>»</a:t>
            </a:r>
            <a:br>
              <a:rPr lang="fr-FR" altLang="fr-FR" sz="1400" dirty="0">
                <a:latin typeface="Arial" panose="020B0604020202020204" pitchFamily="34" charset="0"/>
                <a:ea typeface="Adobe Heiti Std R" panose="020B0400000000000000" pitchFamily="34" charset="-128"/>
                <a:cs typeface="Arial" panose="020B0604020202020204" pitchFamily="34" charset="0"/>
              </a:rPr>
            </a:br>
            <a:r>
              <a:rPr lang="fr-FR" altLang="fr-FR" sz="1400" dirty="0">
                <a:latin typeface="Arial" panose="020B0604020202020204" pitchFamily="34" charset="0"/>
                <a:ea typeface="Adobe Heiti Std R" panose="020B0400000000000000" pitchFamily="34" charset="-128"/>
                <a:cs typeface="Arial" panose="020B0604020202020204" pitchFamily="34" charset="0"/>
              </a:rPr>
              <a:t>Ils n'ont pas besoin d'être activé sur le portail de développeur.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latin typeface="Arial" panose="020B0604020202020204" pitchFamily="34" charset="0"/>
              <a:ea typeface="Adobe Heiti Std R" panose="020B0400000000000000" pitchFamily="34" charset="-128"/>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altLang="fr-FR" sz="1400" dirty="0">
                <a:latin typeface="Arial" panose="020B0604020202020204" pitchFamily="34" charset="0"/>
                <a:ea typeface="Adobe Heiti Std R" panose="020B0400000000000000" pitchFamily="34" charset="-128"/>
                <a:cs typeface="Arial" panose="020B0604020202020204" pitchFamily="34" charset="0"/>
              </a:rPr>
              <a:t>Les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intents</a:t>
            </a:r>
            <a:r>
              <a:rPr lang="fr-FR" altLang="fr-FR" sz="1400" dirty="0">
                <a:latin typeface="Arial" panose="020B0604020202020204" pitchFamily="34" charset="0"/>
                <a:ea typeface="Adobe Heiti Std R" panose="020B0400000000000000" pitchFamily="34" charset="-128"/>
                <a:cs typeface="Arial" panose="020B0604020202020204" pitchFamily="34" charset="0"/>
              </a:rPr>
              <a:t> privilégiés:</a:t>
            </a:r>
            <a:br>
              <a:rPr lang="fr-FR" altLang="fr-FR" sz="1400" dirty="0">
                <a:latin typeface="Arial" panose="020B0604020202020204" pitchFamily="34" charset="0"/>
                <a:ea typeface="Adobe Heiti Std R" panose="020B0400000000000000" pitchFamily="34" charset="-128"/>
                <a:cs typeface="Arial" panose="020B0604020202020204" pitchFamily="34" charset="0"/>
              </a:rPr>
            </a:br>
            <a:r>
              <a:rPr lang="fr-FR" altLang="fr-FR" sz="1400" dirty="0">
                <a:latin typeface="Arial" panose="020B0604020202020204" pitchFamily="34" charset="0"/>
                <a:ea typeface="Adobe Heiti Std R" panose="020B0400000000000000" pitchFamily="34" charset="-128"/>
                <a:cs typeface="Arial" panose="020B0604020202020204" pitchFamily="34" charset="0"/>
              </a:rPr>
              <a:t>Ce sont des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intents</a:t>
            </a:r>
            <a:r>
              <a:rPr lang="fr-FR" altLang="fr-FR" sz="1400" dirty="0">
                <a:latin typeface="Arial" panose="020B0604020202020204" pitchFamily="34" charset="0"/>
                <a:ea typeface="Adobe Heiti Std R" panose="020B0400000000000000" pitchFamily="34" charset="-128"/>
                <a:cs typeface="Arial" panose="020B0604020202020204" pitchFamily="34" charset="0"/>
              </a:rPr>
              <a:t> qu'il faut activer dans le portail de développeur. Il en existe plusieurs, dont:</a:t>
            </a:r>
          </a:p>
          <a:p>
            <a:pPr marL="742950" lvl="1" indent="-285750" defTabSz="914400" eaLnBrk="0" fontAlgn="base" hangingPunct="0">
              <a:spcBef>
                <a:spcPct val="0"/>
              </a:spcBef>
              <a:spcAft>
                <a:spcPct val="0"/>
              </a:spcAft>
              <a:buFont typeface="Arial" panose="020B0604020202020204" pitchFamily="34" charset="0"/>
              <a:buChar char="•"/>
            </a:pPr>
            <a:r>
              <a:rPr lang="fr-FR" altLang="fr-FR" sz="1400" dirty="0" err="1">
                <a:latin typeface="Arial" panose="020B0604020202020204" pitchFamily="34" charset="0"/>
                <a:ea typeface="Adobe Heiti Std R" panose="020B0400000000000000" pitchFamily="34" charset="-128"/>
                <a:cs typeface="Arial" panose="020B0604020202020204" pitchFamily="34" charset="0"/>
              </a:rPr>
              <a:t>Presence</a:t>
            </a:r>
            <a:r>
              <a:rPr lang="fr-FR" altLang="fr-FR" sz="1400" dirty="0">
                <a:latin typeface="Arial" panose="020B0604020202020204" pitchFamily="34" charset="0"/>
                <a:ea typeface="Adobe Heiti Std R" panose="020B0400000000000000" pitchFamily="34" charset="-128"/>
                <a:cs typeface="Arial" panose="020B0604020202020204" pitchFamily="34" charset="0"/>
              </a:rPr>
              <a:t> Intent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discord.Intents.presences</a:t>
            </a:r>
            <a:r>
              <a:rPr lang="fr-FR" altLang="fr-FR" sz="1400" dirty="0">
                <a:latin typeface="Arial" panose="020B0604020202020204" pitchFamily="34" charset="0"/>
                <a:ea typeface="Adobe Heiti Std R" panose="020B0400000000000000" pitchFamily="34" charset="-128"/>
                <a:cs typeface="Arial" panose="020B0604020202020204" pitchFamily="34" charset="0"/>
              </a:rPr>
              <a:t>) </a:t>
            </a:r>
          </a:p>
          <a:p>
            <a:pPr marL="742950" lvl="1" indent="-285750" defTabSz="914400" eaLnBrk="0" fontAlgn="base" hangingPunct="0">
              <a:spcBef>
                <a:spcPct val="0"/>
              </a:spcBef>
              <a:spcAft>
                <a:spcPct val="0"/>
              </a:spcAft>
              <a:buFont typeface="Arial" panose="020B0604020202020204" pitchFamily="34" charset="0"/>
              <a:buChar char="•"/>
            </a:pPr>
            <a:r>
              <a:rPr lang="fr-FR" altLang="fr-FR" sz="1400" dirty="0" err="1">
                <a:latin typeface="Arial" panose="020B0604020202020204" pitchFamily="34" charset="0"/>
                <a:ea typeface="Adobe Heiti Std R" panose="020B0400000000000000" pitchFamily="34" charset="-128"/>
                <a:cs typeface="Arial" panose="020B0604020202020204" pitchFamily="34" charset="0"/>
              </a:rPr>
              <a:t>Member</a:t>
            </a:r>
            <a:r>
              <a:rPr lang="fr-FR" altLang="fr-FR" sz="1400" dirty="0">
                <a:latin typeface="Arial" panose="020B0604020202020204" pitchFamily="34" charset="0"/>
                <a:ea typeface="Adobe Heiti Std R" panose="020B0400000000000000" pitchFamily="34" charset="-128"/>
                <a:cs typeface="Arial" panose="020B0604020202020204" pitchFamily="34" charset="0"/>
              </a:rPr>
              <a:t> Intent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discord.Intents.members</a:t>
            </a:r>
            <a:r>
              <a:rPr lang="fr-FR" altLang="fr-FR" sz="1400" dirty="0">
                <a:latin typeface="Arial" panose="020B0604020202020204" pitchFamily="34" charset="0"/>
                <a:ea typeface="Adobe Heiti Std R" panose="020B0400000000000000" pitchFamily="34" charset="-128"/>
                <a:cs typeface="Arial" panose="020B0604020202020204" pitchFamily="34" charset="0"/>
              </a:rPr>
              <a:t>) </a:t>
            </a:r>
          </a:p>
          <a:p>
            <a:pPr marL="742950" lvl="1" indent="-285750" defTabSz="914400" eaLnBrk="0" fontAlgn="base" hangingPunct="0">
              <a:spcBef>
                <a:spcPct val="0"/>
              </a:spcBef>
              <a:spcAft>
                <a:spcPct val="0"/>
              </a:spcAft>
              <a:buFont typeface="Arial" panose="020B0604020202020204" pitchFamily="34" charset="0"/>
              <a:buChar char="•"/>
            </a:pPr>
            <a:r>
              <a:rPr lang="fr-FR" altLang="fr-FR" sz="1400" dirty="0">
                <a:latin typeface="Arial" panose="020B0604020202020204" pitchFamily="34" charset="0"/>
                <a:ea typeface="Adobe Heiti Std R" panose="020B0400000000000000" pitchFamily="34" charset="-128"/>
                <a:cs typeface="Arial" panose="020B0604020202020204" pitchFamily="34" charset="0"/>
              </a:rPr>
              <a:t>Message Content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discord.Intents.message_content</a:t>
            </a:r>
            <a:r>
              <a:rPr lang="fr-FR" altLang="fr-FR" sz="1400" dirty="0">
                <a:latin typeface="Arial" panose="020B0604020202020204" pitchFamily="34" charset="0"/>
                <a:ea typeface="Adobe Heiti Std R" panose="020B0400000000000000" pitchFamily="34" charset="-128"/>
                <a:cs typeface="Arial" panose="020B0604020202020204" pitchFamily="34" charset="0"/>
              </a:rPr>
              <a:t>, nécessaire pour les commandes non-slash)</a:t>
            </a:r>
          </a:p>
          <a:p>
            <a:pPr marL="742950" lvl="1" indent="-285750" defTabSz="914400" eaLnBrk="0" fontAlgn="base" hangingPunct="0">
              <a:spcBef>
                <a:spcPct val="0"/>
              </a:spcBef>
              <a:spcAft>
                <a:spcPct val="0"/>
              </a:spcAft>
              <a:buFont typeface="Arial" panose="020B0604020202020204" pitchFamily="34" charset="0"/>
              <a:buChar char="•"/>
            </a:pPr>
            <a:endParaRPr lang="fr-FR" altLang="fr-FR" sz="1400" dirty="0">
              <a:latin typeface="Arial" panose="020B0604020202020204" pitchFamily="34" charset="0"/>
              <a:ea typeface="Adobe Heiti Std R" panose="020B0400000000000000" pitchFamily="34" charset="-128"/>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fr-FR" altLang="fr-FR" sz="1400" dirty="0">
                <a:latin typeface="Arial" panose="020B0604020202020204" pitchFamily="34" charset="0"/>
                <a:ea typeface="Adobe Heiti Std R" panose="020B0400000000000000" pitchFamily="34" charset="-128"/>
                <a:cs typeface="Arial" panose="020B0604020202020204" pitchFamily="34" charset="0"/>
              </a:rPr>
              <a:t>Vous pouvez les activer soit en utilisant:</a:t>
            </a:r>
          </a:p>
          <a:p>
            <a:pPr marL="285750" indent="-285750" defTabSz="914400" eaLnBrk="0" fontAlgn="base" hangingPunct="0">
              <a:spcBef>
                <a:spcPct val="0"/>
              </a:spcBef>
              <a:spcAft>
                <a:spcPct val="0"/>
              </a:spcAft>
              <a:buFont typeface="Arial" panose="020B0604020202020204" pitchFamily="34" charset="0"/>
              <a:buChar char="•"/>
            </a:pPr>
            <a:r>
              <a:rPr lang="fr-FR" altLang="fr-FR" sz="1400" dirty="0">
                <a:latin typeface="Arial" panose="020B0604020202020204" pitchFamily="34" charset="0"/>
                <a:ea typeface="Adobe Heiti Std R" panose="020B0400000000000000" pitchFamily="34" charset="-128"/>
                <a:cs typeface="Arial" panose="020B0604020202020204" pitchFamily="34" charset="0"/>
              </a:rPr>
              <a:t>« </a:t>
            </a:r>
            <a:r>
              <a:rPr lang="fr-FR" sz="1200" b="0" dirty="0" err="1">
                <a:solidFill>
                  <a:srgbClr val="9CDCFE"/>
                </a:solidFill>
                <a:effectLst/>
                <a:latin typeface="Consolas" panose="020B0609020204030204" pitchFamily="49" charset="0"/>
              </a:rPr>
              <a:t>intents</a:t>
            </a:r>
            <a:r>
              <a:rPr lang="fr-FR" sz="1200" b="0" dirty="0">
                <a:solidFill>
                  <a:srgbClr val="D4D4D4"/>
                </a:solidFill>
                <a:effectLst/>
                <a:latin typeface="Consolas" panose="020B0609020204030204" pitchFamily="49" charset="0"/>
              </a:rPr>
              <a:t> = </a:t>
            </a:r>
            <a:r>
              <a:rPr lang="fr-FR" sz="1200" b="0" dirty="0" err="1">
                <a:solidFill>
                  <a:srgbClr val="4EC9B0"/>
                </a:solidFill>
                <a:effectLst/>
                <a:latin typeface="Consolas" panose="020B0609020204030204" pitchFamily="49" charset="0"/>
              </a:rPr>
              <a:t>discord</a:t>
            </a:r>
            <a:r>
              <a:rPr lang="fr-FR" sz="1200" b="0" dirty="0" err="1">
                <a:solidFill>
                  <a:srgbClr val="D4D4D4"/>
                </a:solidFill>
                <a:effectLst/>
                <a:latin typeface="Consolas" panose="020B0609020204030204" pitchFamily="49" charset="0"/>
              </a:rPr>
              <a:t>.</a:t>
            </a:r>
            <a:r>
              <a:rPr lang="fr-FR" sz="1200" b="0" dirty="0" err="1">
                <a:solidFill>
                  <a:srgbClr val="4EC9B0"/>
                </a:solidFill>
                <a:effectLst/>
                <a:latin typeface="Consolas" panose="020B0609020204030204" pitchFamily="49" charset="0"/>
              </a:rPr>
              <a:t>Intents</a:t>
            </a:r>
            <a:r>
              <a:rPr lang="fr-FR" sz="1200" b="0" dirty="0" err="1">
                <a:solidFill>
                  <a:srgbClr val="D4D4D4"/>
                </a:solidFill>
                <a:effectLst/>
                <a:latin typeface="Consolas" panose="020B0609020204030204" pitchFamily="49" charset="0"/>
              </a:rPr>
              <a:t>.</a:t>
            </a:r>
            <a:r>
              <a:rPr lang="fr-FR" sz="1200" b="0" dirty="0" err="1">
                <a:solidFill>
                  <a:srgbClr val="DCDCAA"/>
                </a:solidFill>
                <a:effectLst/>
                <a:latin typeface="Consolas" panose="020B0609020204030204" pitchFamily="49" charset="0"/>
              </a:rPr>
              <a:t>all</a:t>
            </a:r>
            <a:r>
              <a:rPr lang="fr-FR" sz="1200" b="0" dirty="0">
                <a:solidFill>
                  <a:srgbClr val="D4D4D4"/>
                </a:solidFill>
                <a:effectLst/>
                <a:latin typeface="Consolas" panose="020B0609020204030204" pitchFamily="49" charset="0"/>
              </a:rPr>
              <a:t>() </a:t>
            </a:r>
            <a:r>
              <a:rPr lang="fr-FR" altLang="fr-FR" sz="1400" dirty="0">
                <a:latin typeface="Arial" panose="020B0604020202020204" pitchFamily="34" charset="0"/>
                <a:ea typeface="Adobe Heiti Std R" panose="020B0400000000000000" pitchFamily="34" charset="-128"/>
                <a:cs typeface="Arial" panose="020B0604020202020204" pitchFamily="34" charset="0"/>
              </a:rPr>
              <a:t>» qui activera tout les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intents</a:t>
            </a:r>
            <a:r>
              <a:rPr lang="fr-FR" altLang="fr-FR" sz="1400" dirty="0">
                <a:latin typeface="Arial" panose="020B0604020202020204" pitchFamily="34" charset="0"/>
                <a:ea typeface="Adobe Heiti Std R" panose="020B0400000000000000" pitchFamily="34" charset="-128"/>
                <a:cs typeface="Arial" panose="020B0604020202020204" pitchFamily="34" charset="0"/>
              </a:rPr>
              <a:t> (pour en enlever il suffit d'ajouter par exemple « </a:t>
            </a:r>
            <a:r>
              <a:rPr lang="fr-FR" sz="1200" b="0" dirty="0" err="1">
                <a:solidFill>
                  <a:srgbClr val="9CDCFE"/>
                </a:solidFill>
                <a:effectLst/>
                <a:latin typeface="Consolas" panose="020B0609020204030204" pitchFamily="49" charset="0"/>
              </a:rPr>
              <a:t>intents</a:t>
            </a:r>
            <a:r>
              <a:rPr lang="fr-FR" sz="1200" b="0" dirty="0" err="1">
                <a:solidFill>
                  <a:srgbClr val="D4D4D4"/>
                </a:solidFill>
                <a:effectLst/>
                <a:latin typeface="Consolas" panose="020B0609020204030204" pitchFamily="49" charset="0"/>
              </a:rPr>
              <a:t>.</a:t>
            </a:r>
            <a:r>
              <a:rPr lang="fr-FR" sz="1200" b="0" dirty="0" err="1">
                <a:solidFill>
                  <a:srgbClr val="9CDCFE"/>
                </a:solidFill>
                <a:effectLst/>
                <a:latin typeface="Consolas" panose="020B0609020204030204" pitchFamily="49" charset="0"/>
              </a:rPr>
              <a:t>members</a:t>
            </a:r>
            <a:r>
              <a:rPr lang="fr-FR" sz="1200" b="0" dirty="0">
                <a:solidFill>
                  <a:srgbClr val="D4D4D4"/>
                </a:solidFill>
                <a:effectLst/>
                <a:latin typeface="Consolas" panose="020B0609020204030204" pitchFamily="49" charset="0"/>
              </a:rPr>
              <a:t> = </a:t>
            </a:r>
            <a:r>
              <a:rPr lang="fr-FR" sz="1200" b="0" dirty="0">
                <a:solidFill>
                  <a:srgbClr val="569CD6"/>
                </a:solidFill>
                <a:effectLst/>
                <a:latin typeface="Consolas" panose="020B0609020204030204" pitchFamily="49" charset="0"/>
              </a:rPr>
              <a:t>False</a:t>
            </a:r>
            <a:r>
              <a:rPr lang="fr-FR" sz="1200" b="0" dirty="0">
                <a:solidFill>
                  <a:srgbClr val="D4D4D4"/>
                </a:solidFill>
                <a:effectLst/>
                <a:latin typeface="Consolas" panose="020B0609020204030204" pitchFamily="49" charset="0"/>
              </a:rPr>
              <a:t> </a:t>
            </a:r>
            <a:r>
              <a:rPr lang="fr-FR" altLang="fr-FR" sz="1400" dirty="0">
                <a:latin typeface="Arial" panose="020B0604020202020204" pitchFamily="34" charset="0"/>
                <a:ea typeface="Adobe Heiti Std R" panose="020B0400000000000000" pitchFamily="34" charset="-128"/>
                <a:cs typeface="Arial" panose="020B0604020202020204" pitchFamily="34" charset="0"/>
              </a:rPr>
              <a:t>» pour supprimer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l'intent</a:t>
            </a:r>
            <a:r>
              <a:rPr lang="fr-FR" altLang="fr-FR" sz="1400" dirty="0">
                <a:latin typeface="Arial" panose="020B0604020202020204" pitchFamily="34" charset="0"/>
                <a:ea typeface="Adobe Heiti Std R" panose="020B0400000000000000" pitchFamily="34" charset="-128"/>
                <a:cs typeface="Arial" panose="020B0604020202020204" pitchFamily="34" charset="0"/>
              </a:rPr>
              <a:t>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Member</a:t>
            </a:r>
            <a:r>
              <a:rPr lang="fr-FR" altLang="fr-FR" sz="1400" dirty="0">
                <a:latin typeface="Arial" panose="020B0604020202020204" pitchFamily="34" charset="0"/>
                <a:ea typeface="Adobe Heiti Std R" panose="020B0400000000000000" pitchFamily="34" charset="-128"/>
                <a:cs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latin typeface="Arial" panose="020B0604020202020204" pitchFamily="34" charset="0"/>
              <a:ea typeface="Adobe Heiti Std R" panose="020B0400000000000000" pitchFamily="34" charset="-128"/>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altLang="fr-FR" sz="1400" dirty="0">
                <a:latin typeface="Arial" panose="020B0604020202020204" pitchFamily="34" charset="0"/>
                <a:ea typeface="Adobe Heiti Std R" panose="020B0400000000000000" pitchFamily="34" charset="-128"/>
                <a:cs typeface="Arial" panose="020B0604020202020204" pitchFamily="34" charset="0"/>
              </a:rPr>
              <a:t>Soit en utilisant: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latin typeface="Arial" panose="020B0604020202020204" pitchFamily="34" charset="0"/>
              <a:ea typeface="Adobe Heiti Std R" panose="020B0400000000000000" pitchFamily="34" charset="-128"/>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latin typeface="Arial" panose="020B0604020202020204" pitchFamily="34" charset="0"/>
              <a:ea typeface="Adobe Heiti Std R" panose="020B0400000000000000" pitchFamily="34" charset="-128"/>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latin typeface="Arial" panose="020B0604020202020204" pitchFamily="34" charset="0"/>
              <a:ea typeface="Adobe Heiti Std R" panose="020B0400000000000000" pitchFamily="34" charset="-128"/>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latin typeface="Arial" panose="020B0604020202020204" pitchFamily="34" charset="0"/>
              <a:ea typeface="Adobe Heiti Std R" panose="020B0400000000000000" pitchFamily="34" charset="-128"/>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1400" dirty="0">
              <a:latin typeface="Arial" panose="020B0604020202020204" pitchFamily="34" charset="0"/>
              <a:ea typeface="Adobe Heiti Std R" panose="020B0400000000000000" pitchFamily="34" charset="-128"/>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FR" altLang="fr-FR" sz="1400" dirty="0">
              <a:latin typeface="Arial" panose="020B0604020202020204" pitchFamily="34" charset="0"/>
              <a:ea typeface="Adobe Heiti Std R" panose="020B0400000000000000" pitchFamily="34" charset="-128"/>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fr-FR" altLang="fr-FR" sz="1400" dirty="0">
                <a:latin typeface="Arial" panose="020B0604020202020204" pitchFamily="34" charset="0"/>
                <a:ea typeface="Adobe Heiti Std R" panose="020B0400000000000000" pitchFamily="34" charset="-128"/>
                <a:cs typeface="Arial" panose="020B0604020202020204" pitchFamily="34" charset="0"/>
              </a:rPr>
              <a:t>     où vous devrez choisir quels </a:t>
            </a:r>
            <a:r>
              <a:rPr lang="fr-FR" altLang="fr-FR" sz="1400" dirty="0" err="1">
                <a:latin typeface="Arial" panose="020B0604020202020204" pitchFamily="34" charset="0"/>
                <a:ea typeface="Adobe Heiti Std R" panose="020B0400000000000000" pitchFamily="34" charset="-128"/>
                <a:cs typeface="Arial" panose="020B0604020202020204" pitchFamily="34" charset="0"/>
              </a:rPr>
              <a:t>intents</a:t>
            </a:r>
            <a:r>
              <a:rPr lang="fr-FR" altLang="fr-FR" sz="1400" dirty="0">
                <a:latin typeface="Arial" panose="020B0604020202020204" pitchFamily="34" charset="0"/>
                <a:ea typeface="Adobe Heiti Std R" panose="020B0400000000000000" pitchFamily="34" charset="-128"/>
                <a:cs typeface="Arial" panose="020B0604020202020204" pitchFamily="34" charset="0"/>
              </a:rPr>
              <a:t> activer.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7" name="Image 6">
            <a:extLst>
              <a:ext uri="{FF2B5EF4-FFF2-40B4-BE49-F238E27FC236}">
                <a16:creationId xmlns:a16="http://schemas.microsoft.com/office/drawing/2014/main" id="{A9BECE3A-FBB7-135B-968B-6C6CE6C073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766" y="4219282"/>
            <a:ext cx="3227495" cy="1334365"/>
          </a:xfrm>
          <a:prstGeom prst="rect">
            <a:avLst/>
          </a:prstGeom>
        </p:spPr>
      </p:pic>
    </p:spTree>
    <p:extLst>
      <p:ext uri="{BB962C8B-B14F-4D97-AF65-F5344CB8AC3E}">
        <p14:creationId xmlns:p14="http://schemas.microsoft.com/office/powerpoint/2010/main" val="3397576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Protéger votre </a:t>
            </a:r>
            <a:r>
              <a:rPr lang="fr-FR" sz="2400" b="1" dirty="0" err="1">
                <a:latin typeface="Arial" panose="020B0604020202020204" pitchFamily="34" charset="0"/>
                <a:ea typeface="Adobe Heiti Std R" panose="020B0400000000000000" pitchFamily="34" charset="-128"/>
                <a:cs typeface="Arial" panose="020B0604020202020204" pitchFamily="34" charset="0"/>
              </a:rPr>
              <a:t>token</a:t>
            </a:r>
            <a:r>
              <a:rPr lang="fr-FR" sz="2400" b="1" dirty="0">
                <a:latin typeface="Arial" panose="020B0604020202020204" pitchFamily="34" charset="0"/>
                <a:ea typeface="Adobe Heiti Std R" panose="020B0400000000000000" pitchFamily="34" charset="-128"/>
                <a:cs typeface="Arial" panose="020B0604020202020204" pitchFamily="34" charset="0"/>
              </a:rPr>
              <a:t> (Partie 1)</a:t>
            </a:r>
          </a:p>
        </p:txBody>
      </p:sp>
      <p:sp>
        <p:nvSpPr>
          <p:cNvPr id="5" name="ZoneTexte 4">
            <a:extLst>
              <a:ext uri="{FF2B5EF4-FFF2-40B4-BE49-F238E27FC236}">
                <a16:creationId xmlns:a16="http://schemas.microsoft.com/office/drawing/2014/main" id="{959357B2-3CDE-782B-8921-BE449DE67D22}"/>
              </a:ext>
            </a:extLst>
          </p:cNvPr>
          <p:cNvSpPr txBox="1"/>
          <p:nvPr/>
        </p:nvSpPr>
        <p:spPr>
          <a:xfrm>
            <a:off x="5552585" y="925366"/>
            <a:ext cx="6272471" cy="1169551"/>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Votre </a:t>
            </a:r>
            <a:r>
              <a:rPr lang="fr-FR" sz="1400" dirty="0" err="1">
                <a:latin typeface="Arial" panose="020B0604020202020204" pitchFamily="34" charset="0"/>
                <a:ea typeface="Adobe Heiti Std R" panose="020B0400000000000000" pitchFamily="34" charset="-128"/>
                <a:cs typeface="Arial" panose="020B0604020202020204" pitchFamily="34" charset="0"/>
              </a:rPr>
              <a:t>token</a:t>
            </a:r>
            <a:r>
              <a:rPr lang="fr-FR" sz="1400" dirty="0">
                <a:latin typeface="Arial" panose="020B0604020202020204" pitchFamily="34" charset="0"/>
                <a:ea typeface="Adobe Heiti Std R" panose="020B0400000000000000" pitchFamily="34" charset="-128"/>
                <a:cs typeface="Arial" panose="020B0604020202020204" pitchFamily="34" charset="0"/>
              </a:rPr>
              <a:t> est l’identifiant et le mot de passe de votre bot, si vous le partagez à quelqu’un, il aura accès à votre bot et pourra l’utilisez à mauvais </a:t>
            </a:r>
            <a:r>
              <a:rPr lang="fr-FR" sz="1400" dirty="0" err="1">
                <a:latin typeface="Arial" panose="020B0604020202020204" pitchFamily="34" charset="0"/>
                <a:ea typeface="Adobe Heiti Std R" panose="020B0400000000000000" pitchFamily="34" charset="-128"/>
                <a:cs typeface="Arial" panose="020B0604020202020204" pitchFamily="34" charset="0"/>
              </a:rPr>
              <a:t>essient</a:t>
            </a:r>
            <a:r>
              <a:rPr lang="fr-FR" sz="1400" dirty="0">
                <a:latin typeface="Arial" panose="020B0604020202020204" pitchFamily="34" charset="0"/>
                <a:ea typeface="Adobe Heiti Std R" panose="020B0400000000000000" pitchFamily="34" charset="-128"/>
                <a:cs typeface="Arial" panose="020B0604020202020204" pitchFamily="34" charset="0"/>
              </a:rPr>
              <a:t>. Si vous voulez montrer votre code sans montrer le </a:t>
            </a:r>
            <a:r>
              <a:rPr lang="fr-FR" sz="1400" dirty="0" err="1">
                <a:latin typeface="Arial" panose="020B0604020202020204" pitchFamily="34" charset="0"/>
                <a:ea typeface="Adobe Heiti Std R" panose="020B0400000000000000" pitchFamily="34" charset="-128"/>
                <a:cs typeface="Arial" panose="020B0604020202020204" pitchFamily="34" charset="0"/>
              </a:rPr>
              <a:t>token</a:t>
            </a:r>
            <a:r>
              <a:rPr lang="fr-FR" sz="1400" dirty="0">
                <a:latin typeface="Arial" panose="020B0604020202020204" pitchFamily="34" charset="0"/>
                <a:ea typeface="Adobe Heiti Std R" panose="020B0400000000000000" pitchFamily="34" charset="-128"/>
                <a:cs typeface="Arial" panose="020B0604020202020204" pitchFamily="34" charset="0"/>
              </a:rPr>
              <a:t>, vous pouvez utiliser le module « </a:t>
            </a:r>
            <a:r>
              <a:rPr lang="fr-FR" sz="1400" dirty="0" err="1">
                <a:latin typeface="Arial" panose="020B0604020202020204" pitchFamily="34" charset="0"/>
                <a:ea typeface="Adobe Heiti Std R" panose="020B0400000000000000" pitchFamily="34" charset="-128"/>
                <a:cs typeface="Arial" panose="020B0604020202020204" pitchFamily="34" charset="0"/>
              </a:rPr>
              <a:t>dotenv</a:t>
            </a:r>
            <a:r>
              <a:rPr lang="fr-FR" sz="1400" dirty="0">
                <a:latin typeface="Arial" panose="020B0604020202020204" pitchFamily="34" charset="0"/>
                <a:ea typeface="Adobe Heiti Std R" panose="020B0400000000000000" pitchFamily="34" charset="-128"/>
                <a:cs typeface="Arial" panose="020B0604020202020204" pitchFamily="34" charset="0"/>
              </a:rPr>
              <a:t> », que vous pouvez installer via l’invite de commande avec:</a:t>
            </a:r>
          </a:p>
        </p:txBody>
      </p:sp>
      <p:pic>
        <p:nvPicPr>
          <p:cNvPr id="7" name="Image 6">
            <a:extLst>
              <a:ext uri="{FF2B5EF4-FFF2-40B4-BE49-F238E27FC236}">
                <a16:creationId xmlns:a16="http://schemas.microsoft.com/office/drawing/2014/main" id="{D3F61323-B01B-BFDE-AB49-47C2A4C81B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0047" y="2248805"/>
            <a:ext cx="3918751" cy="1816875"/>
          </a:xfrm>
          <a:prstGeom prst="rect">
            <a:avLst/>
          </a:prstGeom>
        </p:spPr>
      </p:pic>
      <p:sp>
        <p:nvSpPr>
          <p:cNvPr id="9" name="ZoneTexte 8">
            <a:extLst>
              <a:ext uri="{FF2B5EF4-FFF2-40B4-BE49-F238E27FC236}">
                <a16:creationId xmlns:a16="http://schemas.microsoft.com/office/drawing/2014/main" id="{46965775-8805-C987-CF87-EA43EC64305D}"/>
              </a:ext>
            </a:extLst>
          </p:cNvPr>
          <p:cNvSpPr txBox="1"/>
          <p:nvPr/>
        </p:nvSpPr>
        <p:spPr>
          <a:xfrm>
            <a:off x="5450047" y="4140562"/>
            <a:ext cx="6272471" cy="1815882"/>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Explication du code:</a:t>
            </a: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On ajoute l’import du module « </a:t>
            </a:r>
            <a:r>
              <a:rPr lang="fr-FR" sz="1400" dirty="0" err="1">
                <a:latin typeface="Arial" panose="020B0604020202020204" pitchFamily="34" charset="0"/>
                <a:ea typeface="Adobe Heiti Std R" panose="020B0400000000000000" pitchFamily="34" charset="-128"/>
                <a:cs typeface="Arial" panose="020B0604020202020204" pitchFamily="34" charset="0"/>
              </a:rPr>
              <a:t>dotenv</a:t>
            </a:r>
            <a:r>
              <a:rPr lang="fr-FR" sz="1400" dirty="0">
                <a:latin typeface="Arial" panose="020B0604020202020204" pitchFamily="34" charset="0"/>
                <a:ea typeface="Adobe Heiti Std R" panose="020B0400000000000000" pitchFamily="34" charset="-128"/>
                <a:cs typeface="Arial" panose="020B0604020202020204" pitchFamily="34" charset="0"/>
              </a:rPr>
              <a:t> »</a:t>
            </a: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On charge le fichier nommé « .</a:t>
            </a:r>
            <a:r>
              <a:rPr lang="fr-FR" sz="1400" dirty="0" err="1">
                <a:latin typeface="Arial" panose="020B0604020202020204" pitchFamily="34" charset="0"/>
                <a:ea typeface="Adobe Heiti Std R" panose="020B0400000000000000" pitchFamily="34" charset="-128"/>
                <a:cs typeface="Arial" panose="020B0604020202020204" pitchFamily="34" charset="0"/>
              </a:rPr>
              <a:t>env</a:t>
            </a:r>
            <a:r>
              <a:rPr lang="fr-FR" sz="1400" dirty="0">
                <a:latin typeface="Arial" panose="020B0604020202020204" pitchFamily="34" charset="0"/>
                <a:ea typeface="Adobe Heiti Std R" panose="020B0400000000000000" pitchFamily="34" charset="-128"/>
                <a:cs typeface="Arial" panose="020B0604020202020204" pitchFamily="34" charset="0"/>
              </a:rPr>
              <a:t> » (que l’on crée dans le frame suivante), puis on indique qu’il faut afficher un avertissement lorsque le fichier « .</a:t>
            </a:r>
            <a:r>
              <a:rPr lang="fr-FR" sz="1400" dirty="0" err="1">
                <a:latin typeface="Arial" panose="020B0604020202020204" pitchFamily="34" charset="0"/>
                <a:ea typeface="Adobe Heiti Std R" panose="020B0400000000000000" pitchFamily="34" charset="-128"/>
                <a:cs typeface="Arial" panose="020B0604020202020204" pitchFamily="34" charset="0"/>
              </a:rPr>
              <a:t>env</a:t>
            </a:r>
            <a:r>
              <a:rPr lang="fr-FR" sz="1400" dirty="0">
                <a:latin typeface="Arial" panose="020B0604020202020204" pitchFamily="34" charset="0"/>
                <a:ea typeface="Adobe Heiti Std R" panose="020B0400000000000000" pitchFamily="34" charset="-128"/>
                <a:cs typeface="Arial" panose="020B0604020202020204" pitchFamily="34" charset="0"/>
              </a:rPr>
              <a:t> » est manquant grâce à « </a:t>
            </a:r>
            <a:r>
              <a:rPr lang="fr-FR" sz="1400" dirty="0" err="1">
                <a:latin typeface="Arial" panose="020B0604020202020204" pitchFamily="34" charset="0"/>
                <a:ea typeface="Adobe Heiti Std R" panose="020B0400000000000000" pitchFamily="34" charset="-128"/>
                <a:cs typeface="Arial" panose="020B0604020202020204" pitchFamily="34" charset="0"/>
              </a:rPr>
              <a:t>verbose</a:t>
            </a:r>
            <a:r>
              <a:rPr lang="fr-FR" sz="1400" dirty="0">
                <a:latin typeface="Arial" panose="020B0604020202020204" pitchFamily="34" charset="0"/>
                <a:ea typeface="Adobe Heiti Std R" panose="020B0400000000000000" pitchFamily="34" charset="-128"/>
                <a:cs typeface="Arial" panose="020B0604020202020204" pitchFamily="34" charset="0"/>
              </a:rPr>
              <a:t> = </a:t>
            </a:r>
            <a:r>
              <a:rPr lang="fr-FR" sz="1400" dirty="0" err="1">
                <a:latin typeface="Arial" panose="020B0604020202020204" pitchFamily="34" charset="0"/>
                <a:ea typeface="Adobe Heiti Std R" panose="020B0400000000000000" pitchFamily="34" charset="-128"/>
                <a:cs typeface="Arial" panose="020B0604020202020204" pitchFamily="34" charset="0"/>
              </a:rPr>
              <a:t>True</a:t>
            </a:r>
            <a:r>
              <a:rPr lang="fr-FR" sz="1400" dirty="0">
                <a:latin typeface="Arial" panose="020B0604020202020204" pitchFamily="34" charset="0"/>
                <a:ea typeface="Adobe Heiti Std R" panose="020B0400000000000000" pitchFamily="34" charset="-128"/>
                <a:cs typeface="Arial" panose="020B0604020202020204" pitchFamily="34" charset="0"/>
              </a:rPr>
              <a:t> ».</a:t>
            </a: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On crée une variable (ici une constante), qui va contenir la valeur de « TOKEN » du fichier « .</a:t>
            </a:r>
            <a:r>
              <a:rPr lang="fr-FR" sz="1400" dirty="0" err="1">
                <a:latin typeface="Arial" panose="020B0604020202020204" pitchFamily="34" charset="0"/>
                <a:ea typeface="Adobe Heiti Std R" panose="020B0400000000000000" pitchFamily="34" charset="-128"/>
                <a:cs typeface="Arial" panose="020B0604020202020204" pitchFamily="34" charset="0"/>
              </a:rPr>
              <a:t>env</a:t>
            </a:r>
            <a:r>
              <a:rPr lang="fr-FR" sz="1400" dirty="0">
                <a:latin typeface="Arial" panose="020B0604020202020204" pitchFamily="34" charset="0"/>
                <a:ea typeface="Adobe Heiti Std R" panose="020B0400000000000000" pitchFamily="34" charset="-128"/>
                <a:cs typeface="Arial" panose="020B0604020202020204" pitchFamily="34" charset="0"/>
              </a:rPr>
              <a:t> », variable que l’on va donner comme paramètre à « </a:t>
            </a:r>
            <a:r>
              <a:rPr lang="fr-FR" sz="1400" dirty="0" err="1">
                <a:latin typeface="Arial" panose="020B0604020202020204" pitchFamily="34" charset="0"/>
                <a:ea typeface="Adobe Heiti Std R" panose="020B0400000000000000" pitchFamily="34" charset="-128"/>
                <a:cs typeface="Arial" panose="020B0604020202020204" pitchFamily="34" charset="0"/>
              </a:rPr>
              <a:t>bot.run</a:t>
            </a:r>
            <a:r>
              <a:rPr lang="fr-FR" sz="1400" dirty="0">
                <a:latin typeface="Arial" panose="020B0604020202020204" pitchFamily="34" charset="0"/>
                <a:ea typeface="Adobe Heiti Std R" panose="020B0400000000000000" pitchFamily="34" charset="-128"/>
                <a:cs typeface="Arial" panose="020B0604020202020204" pitchFamily="34" charset="0"/>
              </a:rPr>
              <a:t>(…) » à la place du </a:t>
            </a:r>
            <a:r>
              <a:rPr lang="fr-FR" sz="1400" dirty="0" err="1">
                <a:latin typeface="Arial" panose="020B0604020202020204" pitchFamily="34" charset="0"/>
                <a:ea typeface="Adobe Heiti Std R" panose="020B0400000000000000" pitchFamily="34" charset="-128"/>
                <a:cs typeface="Arial" panose="020B0604020202020204" pitchFamily="34" charset="0"/>
              </a:rPr>
              <a:t>token</a:t>
            </a:r>
            <a:r>
              <a:rPr lang="fr-FR" sz="1400" dirty="0">
                <a:latin typeface="Arial" panose="020B0604020202020204" pitchFamily="34" charset="0"/>
                <a:ea typeface="Adobe Heiti Std R" panose="020B0400000000000000" pitchFamily="34" charset="-128"/>
                <a:cs typeface="Arial" panose="020B0604020202020204" pitchFamily="34" charset="0"/>
              </a:rPr>
              <a:t>.</a:t>
            </a:r>
          </a:p>
        </p:txBody>
      </p:sp>
      <p:pic>
        <p:nvPicPr>
          <p:cNvPr id="11" name="Image 10">
            <a:extLst>
              <a:ext uri="{FF2B5EF4-FFF2-40B4-BE49-F238E27FC236}">
                <a16:creationId xmlns:a16="http://schemas.microsoft.com/office/drawing/2014/main" id="{4CCAAD0A-CC51-708C-7B88-D21D4C2433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887" y="1389971"/>
            <a:ext cx="4483756" cy="4681740"/>
          </a:xfrm>
          <a:prstGeom prst="rect">
            <a:avLst/>
          </a:prstGeom>
        </p:spPr>
      </p:pic>
    </p:spTree>
    <p:extLst>
      <p:ext uri="{BB962C8B-B14F-4D97-AF65-F5344CB8AC3E}">
        <p14:creationId xmlns:p14="http://schemas.microsoft.com/office/powerpoint/2010/main" val="698368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Protéger votre </a:t>
            </a:r>
            <a:r>
              <a:rPr lang="fr-FR" sz="2400" b="1" dirty="0" err="1">
                <a:latin typeface="Arial" panose="020B0604020202020204" pitchFamily="34" charset="0"/>
                <a:ea typeface="Adobe Heiti Std R" panose="020B0400000000000000" pitchFamily="34" charset="-128"/>
                <a:cs typeface="Arial" panose="020B0604020202020204" pitchFamily="34" charset="0"/>
              </a:rPr>
              <a:t>token</a:t>
            </a:r>
            <a:r>
              <a:rPr lang="fr-FR" sz="2400" b="1" dirty="0">
                <a:latin typeface="Arial" panose="020B0604020202020204" pitchFamily="34" charset="0"/>
                <a:ea typeface="Adobe Heiti Std R" panose="020B0400000000000000" pitchFamily="34" charset="-128"/>
                <a:cs typeface="Arial" panose="020B0604020202020204" pitchFamily="34" charset="0"/>
              </a:rPr>
              <a:t> (Partie 2)</a:t>
            </a:r>
          </a:p>
        </p:txBody>
      </p:sp>
      <p:sp>
        <p:nvSpPr>
          <p:cNvPr id="5" name="ZoneTexte 4">
            <a:extLst>
              <a:ext uri="{FF2B5EF4-FFF2-40B4-BE49-F238E27FC236}">
                <a16:creationId xmlns:a16="http://schemas.microsoft.com/office/drawing/2014/main" id="{959357B2-3CDE-782B-8921-BE449DE67D22}"/>
              </a:ext>
            </a:extLst>
          </p:cNvPr>
          <p:cNvSpPr txBox="1"/>
          <p:nvPr/>
        </p:nvSpPr>
        <p:spPr>
          <a:xfrm>
            <a:off x="740887" y="1182818"/>
            <a:ext cx="10800084" cy="1169551"/>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Un fichier .</a:t>
            </a:r>
            <a:r>
              <a:rPr lang="fr-FR" sz="1400" dirty="0" err="1">
                <a:latin typeface="Arial" panose="020B0604020202020204" pitchFamily="34" charset="0"/>
                <a:ea typeface="Adobe Heiti Std R" panose="020B0400000000000000" pitchFamily="34" charset="-128"/>
                <a:cs typeface="Arial" panose="020B0604020202020204" pitchFamily="34" charset="0"/>
              </a:rPr>
              <a:t>env</a:t>
            </a:r>
            <a:r>
              <a:rPr lang="fr-FR" sz="1400" dirty="0">
                <a:latin typeface="Arial" panose="020B0604020202020204" pitchFamily="34" charset="0"/>
                <a:ea typeface="Adobe Heiti Std R" panose="020B0400000000000000" pitchFamily="34" charset="-128"/>
                <a:cs typeface="Arial" panose="020B0604020202020204" pitchFamily="34" charset="0"/>
              </a:rPr>
              <a:t> est un fichier contenant des variables d’environnement.</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a:p>
            <a:r>
              <a:rPr lang="fr-FR" sz="1400" dirty="0">
                <a:latin typeface="Arial" panose="020B0604020202020204" pitchFamily="34" charset="0"/>
                <a:ea typeface="Adobe Heiti Std R" panose="020B0400000000000000" pitchFamily="34" charset="-128"/>
                <a:cs typeface="Arial" panose="020B0604020202020204" pitchFamily="34" charset="0"/>
              </a:rPr>
              <a:t>Dans votre explorateur de fichiers, créez un fichier nommé « .</a:t>
            </a:r>
            <a:r>
              <a:rPr lang="fr-FR" sz="1400" dirty="0" err="1">
                <a:latin typeface="Arial" panose="020B0604020202020204" pitchFamily="34" charset="0"/>
                <a:ea typeface="Adobe Heiti Std R" panose="020B0400000000000000" pitchFamily="34" charset="-128"/>
                <a:cs typeface="Arial" panose="020B0604020202020204" pitchFamily="34" charset="0"/>
              </a:rPr>
              <a:t>env</a:t>
            </a:r>
            <a:r>
              <a:rPr lang="fr-FR" sz="1400" dirty="0">
                <a:latin typeface="Arial" panose="020B0604020202020204" pitchFamily="34" charset="0"/>
                <a:ea typeface="Adobe Heiti Std R" panose="020B0400000000000000" pitchFamily="34" charset="-128"/>
                <a:cs typeface="Arial" panose="020B0604020202020204" pitchFamily="34" charset="0"/>
              </a:rPr>
              <a:t> » dans le même dossier que votre fichier « main.py », puis ouvrez le et écrivez y :</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p:txBody>
      </p:sp>
      <p:pic>
        <p:nvPicPr>
          <p:cNvPr id="4" name="Image 3">
            <a:extLst>
              <a:ext uri="{FF2B5EF4-FFF2-40B4-BE49-F238E27FC236}">
                <a16:creationId xmlns:a16="http://schemas.microsoft.com/office/drawing/2014/main" id="{9A824825-6D6F-1240-27DA-F47BCFA29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887" y="2051135"/>
            <a:ext cx="3231265" cy="1253601"/>
          </a:xfrm>
          <a:prstGeom prst="rect">
            <a:avLst/>
          </a:prstGeom>
        </p:spPr>
      </p:pic>
      <p:sp>
        <p:nvSpPr>
          <p:cNvPr id="6" name="ZoneTexte 5">
            <a:extLst>
              <a:ext uri="{FF2B5EF4-FFF2-40B4-BE49-F238E27FC236}">
                <a16:creationId xmlns:a16="http://schemas.microsoft.com/office/drawing/2014/main" id="{58FB78E2-6D90-A86F-4AD2-B17C025E87BD}"/>
              </a:ext>
            </a:extLst>
          </p:cNvPr>
          <p:cNvSpPr txBox="1"/>
          <p:nvPr/>
        </p:nvSpPr>
        <p:spPr>
          <a:xfrm>
            <a:off x="740887" y="3429000"/>
            <a:ext cx="10800084" cy="954107"/>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Sauvegardez, puis revenez sur votre code python et lancer le. Votre bot va se lancer en ayant pris votre </a:t>
            </a:r>
            <a:r>
              <a:rPr lang="fr-FR" sz="1400" dirty="0" err="1">
                <a:latin typeface="Arial" panose="020B0604020202020204" pitchFamily="34" charset="0"/>
                <a:ea typeface="Adobe Heiti Std R" panose="020B0400000000000000" pitchFamily="34" charset="-128"/>
                <a:cs typeface="Arial" panose="020B0604020202020204" pitchFamily="34" charset="0"/>
              </a:rPr>
              <a:t>token</a:t>
            </a:r>
            <a:r>
              <a:rPr lang="fr-FR" sz="1400" dirty="0">
                <a:latin typeface="Arial" panose="020B0604020202020204" pitchFamily="34" charset="0"/>
                <a:ea typeface="Adobe Heiti Std R" panose="020B0400000000000000" pitchFamily="34" charset="-128"/>
                <a:cs typeface="Arial" panose="020B0604020202020204" pitchFamily="34" charset="0"/>
              </a:rPr>
              <a:t> depuis votre fichier « .</a:t>
            </a:r>
            <a:r>
              <a:rPr lang="fr-FR" sz="1400" dirty="0" err="1">
                <a:latin typeface="Arial" panose="020B0604020202020204" pitchFamily="34" charset="0"/>
                <a:ea typeface="Adobe Heiti Std R" panose="020B0400000000000000" pitchFamily="34" charset="-128"/>
                <a:cs typeface="Arial" panose="020B0604020202020204" pitchFamily="34" charset="0"/>
              </a:rPr>
              <a:t>env</a:t>
            </a:r>
            <a:r>
              <a:rPr lang="fr-FR" sz="1400" dirty="0">
                <a:latin typeface="Arial" panose="020B0604020202020204" pitchFamily="34" charset="0"/>
                <a:ea typeface="Adobe Heiti Std R" panose="020B0400000000000000" pitchFamily="34" charset="-128"/>
                <a:cs typeface="Arial" panose="020B0604020202020204" pitchFamily="34" charset="0"/>
              </a:rPr>
              <a:t> ».</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a:p>
            <a:r>
              <a:rPr lang="fr-FR" sz="1400" dirty="0">
                <a:latin typeface="Arial" panose="020B0604020202020204" pitchFamily="34" charset="0"/>
                <a:ea typeface="Adobe Heiti Std R" panose="020B0400000000000000" pitchFamily="34" charset="-128"/>
                <a:cs typeface="Arial" panose="020B0604020202020204" pitchFamily="34" charset="0"/>
              </a:rPr>
              <a:t>Vous pourrez maintenant partager votre code python sans devoir supprimer la ligne du </a:t>
            </a:r>
            <a:r>
              <a:rPr lang="fr-FR" sz="1400" dirty="0" err="1">
                <a:latin typeface="Arial" panose="020B0604020202020204" pitchFamily="34" charset="0"/>
                <a:ea typeface="Adobe Heiti Std R" panose="020B0400000000000000" pitchFamily="34" charset="-128"/>
                <a:cs typeface="Arial" panose="020B0604020202020204" pitchFamily="34" charset="0"/>
              </a:rPr>
              <a:t>token</a:t>
            </a:r>
            <a:r>
              <a:rPr lang="fr-FR" sz="1400" dirty="0">
                <a:latin typeface="Arial" panose="020B0604020202020204" pitchFamily="34" charset="0"/>
                <a:ea typeface="Adobe Heiti Std R" panose="020B0400000000000000" pitchFamily="34" charset="-128"/>
                <a:cs typeface="Arial" panose="020B0604020202020204" pitchFamily="34" charset="0"/>
              </a:rPr>
              <a:t> à chaque fois !</a:t>
            </a:r>
          </a:p>
        </p:txBody>
      </p:sp>
    </p:spTree>
    <p:extLst>
      <p:ext uri="{BB962C8B-B14F-4D97-AF65-F5344CB8AC3E}">
        <p14:creationId xmlns:p14="http://schemas.microsoft.com/office/powerpoint/2010/main" val="4058647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 La fonction </a:t>
            </a:r>
            <a:r>
              <a:rPr lang="fr-FR" sz="2400" b="1" dirty="0" err="1">
                <a:latin typeface="Arial" panose="020B0604020202020204" pitchFamily="34" charset="0"/>
                <a:ea typeface="Adobe Heiti Std R" panose="020B0400000000000000" pitchFamily="34" charset="-128"/>
                <a:cs typeface="Arial" panose="020B0604020202020204" pitchFamily="34" charset="0"/>
              </a:rPr>
              <a:t>setup_hook</a:t>
            </a:r>
            <a:r>
              <a:rPr lang="fr-FR" sz="2400" b="1" dirty="0">
                <a:latin typeface="Arial" panose="020B0604020202020204" pitchFamily="34" charset="0"/>
                <a:ea typeface="Adobe Heiti Std R" panose="020B0400000000000000" pitchFamily="34" charset="-128"/>
                <a:cs typeface="Arial" panose="020B0604020202020204" pitchFamily="34" charset="0"/>
              </a:rPr>
              <a:t> »</a:t>
            </a:r>
          </a:p>
        </p:txBody>
      </p:sp>
      <p:sp>
        <p:nvSpPr>
          <p:cNvPr id="5" name="ZoneTexte 4">
            <a:extLst>
              <a:ext uri="{FF2B5EF4-FFF2-40B4-BE49-F238E27FC236}">
                <a16:creationId xmlns:a16="http://schemas.microsoft.com/office/drawing/2014/main" id="{959357B2-3CDE-782B-8921-BE449DE67D22}"/>
              </a:ext>
            </a:extLst>
          </p:cNvPr>
          <p:cNvSpPr txBox="1"/>
          <p:nvPr/>
        </p:nvSpPr>
        <p:spPr>
          <a:xfrm>
            <a:off x="5902701" y="1798093"/>
            <a:ext cx="5704301" cy="2893100"/>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La fonction « </a:t>
            </a:r>
            <a:r>
              <a:rPr lang="fr-FR" sz="1400" dirty="0" err="1">
                <a:latin typeface="Arial" panose="020B0604020202020204" pitchFamily="34" charset="0"/>
                <a:ea typeface="Adobe Heiti Std R" panose="020B0400000000000000" pitchFamily="34" charset="-128"/>
                <a:cs typeface="Arial" panose="020B0604020202020204" pitchFamily="34" charset="0"/>
              </a:rPr>
              <a:t>setup_hook</a:t>
            </a:r>
            <a:r>
              <a:rPr lang="fr-FR" sz="1400" dirty="0">
                <a:latin typeface="Arial" panose="020B0604020202020204" pitchFamily="34" charset="0"/>
                <a:ea typeface="Adobe Heiti Std R" panose="020B0400000000000000" pitchFamily="34" charset="-128"/>
                <a:cs typeface="Arial" panose="020B0604020202020204" pitchFamily="34" charset="0"/>
              </a:rPr>
              <a:t> » est appelée lors du démarrage du bot et est utilisée pour synchroniser les commandes slash et pour charger des </a:t>
            </a:r>
            <a:r>
              <a:rPr lang="fr-FR" sz="1400" dirty="0" err="1">
                <a:latin typeface="Arial" panose="020B0604020202020204" pitchFamily="34" charset="0"/>
                <a:ea typeface="Adobe Heiti Std R" panose="020B0400000000000000" pitchFamily="34" charset="-128"/>
                <a:cs typeface="Arial" panose="020B0604020202020204" pitchFamily="34" charset="0"/>
              </a:rPr>
              <a:t>cogs</a:t>
            </a:r>
            <a:r>
              <a:rPr lang="fr-FR" sz="1400" dirty="0">
                <a:latin typeface="Arial" panose="020B0604020202020204" pitchFamily="34" charset="0"/>
                <a:ea typeface="Adobe Heiti Std R" panose="020B0400000000000000" pitchFamily="34" charset="-128"/>
                <a:cs typeface="Arial" panose="020B0604020202020204" pitchFamily="34" charset="0"/>
              </a:rPr>
              <a:t> (que nous verrons plus tard). La synchronisation peut durer plusieurs minutes, mais vous pouvez spécifier un serveur auquel les commandes slash vont être synchronisées instantanément.</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a:p>
            <a:r>
              <a:rPr lang="fr-FR" sz="1400" dirty="0">
                <a:latin typeface="Arial" panose="020B0604020202020204" pitchFamily="34" charset="0"/>
                <a:ea typeface="Adobe Heiti Std R" panose="020B0400000000000000" pitchFamily="34" charset="-128"/>
                <a:cs typeface="Arial" panose="020B0604020202020204" pitchFamily="34" charset="0"/>
              </a:rPr>
              <a:t>Explication du code:</a:t>
            </a: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La constance « MY_GUILD » contient un objet qui est le serveur auquel les commandes doivent être synchronisées rapidement. Vous devez mettre </a:t>
            </a:r>
            <a:r>
              <a:rPr lang="fr-FR" sz="1400" dirty="0" err="1">
                <a:latin typeface="Arial" panose="020B0604020202020204" pitchFamily="34" charset="0"/>
                <a:ea typeface="Adobe Heiti Std R" panose="020B0400000000000000" pitchFamily="34" charset="-128"/>
                <a:cs typeface="Arial" panose="020B0604020202020204" pitchFamily="34" charset="0"/>
              </a:rPr>
              <a:t>l’id</a:t>
            </a:r>
            <a:r>
              <a:rPr lang="fr-FR" sz="1400" dirty="0">
                <a:latin typeface="Arial" panose="020B0604020202020204" pitchFamily="34" charset="0"/>
                <a:ea typeface="Adobe Heiti Std R" panose="020B0400000000000000" pitchFamily="34" charset="-128"/>
                <a:cs typeface="Arial" panose="020B0604020202020204" pitchFamily="34" charset="0"/>
              </a:rPr>
              <a:t> de votre serveur après « id= ».</a:t>
            </a: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La ligne « </a:t>
            </a:r>
            <a:r>
              <a:rPr lang="en-US" sz="1200" b="0" dirty="0">
                <a:solidFill>
                  <a:srgbClr val="C586C0"/>
                </a:solidFill>
                <a:effectLst/>
                <a:latin typeface="Consolas" panose="020B0609020204030204" pitchFamily="49" charset="0"/>
              </a:rPr>
              <a:t>await</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self</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tree</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sync</a:t>
            </a:r>
            <a:r>
              <a:rPr lang="en-US" sz="1200" b="0" dirty="0">
                <a:solidFill>
                  <a:srgbClr val="D4D4D4"/>
                </a:solidFill>
                <a:effectLst/>
                <a:latin typeface="Consolas" panose="020B0609020204030204" pitchFamily="49" charset="0"/>
              </a:rPr>
              <a:t>(</a:t>
            </a:r>
            <a:r>
              <a:rPr lang="en-US" sz="1200" b="0" dirty="0">
                <a:solidFill>
                  <a:srgbClr val="9CDCFE"/>
                </a:solidFill>
                <a:effectLst/>
                <a:latin typeface="Consolas" panose="020B0609020204030204" pitchFamily="49" charset="0"/>
              </a:rPr>
              <a:t>guild</a:t>
            </a:r>
            <a:r>
              <a:rPr lang="en-US" sz="1200" b="0" dirty="0">
                <a:solidFill>
                  <a:srgbClr val="D4D4D4"/>
                </a:solidFill>
                <a:effectLst/>
                <a:latin typeface="Consolas" panose="020B0609020204030204" pitchFamily="49" charset="0"/>
              </a:rPr>
              <a:t>=</a:t>
            </a:r>
            <a:r>
              <a:rPr lang="en-US" sz="1200" b="0" dirty="0">
                <a:solidFill>
                  <a:srgbClr val="4FC1FF"/>
                </a:solidFill>
                <a:effectLst/>
                <a:latin typeface="Consolas" panose="020B0609020204030204" pitchFamily="49" charset="0"/>
              </a:rPr>
              <a:t>MY_GUILD</a:t>
            </a:r>
            <a:r>
              <a:rPr lang="en-US" sz="1200" b="0" dirty="0">
                <a:solidFill>
                  <a:srgbClr val="D4D4D4"/>
                </a:solidFill>
                <a:effectLst/>
                <a:latin typeface="Consolas" panose="020B0609020204030204" pitchFamily="49" charset="0"/>
              </a:rPr>
              <a:t>)</a:t>
            </a:r>
            <a:r>
              <a:rPr lang="fr-FR" sz="1200" dirty="0">
                <a:latin typeface="Arial" panose="020B0604020202020204" pitchFamily="34" charset="0"/>
                <a:ea typeface="Adobe Heiti Std R" panose="020B0400000000000000" pitchFamily="34" charset="-128"/>
                <a:cs typeface="Arial" panose="020B0604020202020204" pitchFamily="34" charset="0"/>
              </a:rPr>
              <a:t> </a:t>
            </a:r>
            <a:r>
              <a:rPr lang="fr-FR" sz="1400" dirty="0">
                <a:latin typeface="Arial" panose="020B0604020202020204" pitchFamily="34" charset="0"/>
                <a:ea typeface="Adobe Heiti Std R" panose="020B0400000000000000" pitchFamily="34" charset="-128"/>
                <a:cs typeface="Arial" panose="020B0604020202020204" pitchFamily="34" charset="0"/>
              </a:rPr>
              <a:t>» va synchroniser les commandes slash.</a:t>
            </a:r>
          </a:p>
          <a:p>
            <a:pPr marL="285750" indent="-285750">
              <a:buFont typeface="Arial" panose="020B0604020202020204" pitchFamily="34" charset="0"/>
              <a:buChar char="•"/>
            </a:pPr>
            <a:endParaRPr lang="fr-FR" sz="1400" dirty="0">
              <a:latin typeface="Arial" panose="020B0604020202020204" pitchFamily="34" charset="0"/>
              <a:ea typeface="Adobe Heiti Std R" panose="020B0400000000000000" pitchFamily="34" charset="-128"/>
              <a:cs typeface="Arial" panose="020B0604020202020204" pitchFamily="34" charset="0"/>
            </a:endParaRPr>
          </a:p>
        </p:txBody>
      </p:sp>
      <p:pic>
        <p:nvPicPr>
          <p:cNvPr id="10" name="Image 9">
            <a:extLst>
              <a:ext uri="{FF2B5EF4-FFF2-40B4-BE49-F238E27FC236}">
                <a16:creationId xmlns:a16="http://schemas.microsoft.com/office/drawing/2014/main" id="{22839FD2-7057-C32C-A738-926AE0B8F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887" y="1576151"/>
            <a:ext cx="5025689" cy="4194670"/>
          </a:xfrm>
          <a:prstGeom prst="rect">
            <a:avLst/>
          </a:prstGeom>
        </p:spPr>
      </p:pic>
    </p:spTree>
    <p:extLst>
      <p:ext uri="{BB962C8B-B14F-4D97-AF65-F5344CB8AC3E}">
        <p14:creationId xmlns:p14="http://schemas.microsoft.com/office/powerpoint/2010/main" val="2188041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Les </a:t>
            </a:r>
            <a:r>
              <a:rPr lang="fr-FR" sz="2400" b="1" dirty="0" err="1">
                <a:latin typeface="Arial" panose="020B0604020202020204" pitchFamily="34" charset="0"/>
                <a:ea typeface="Adobe Heiti Std R" panose="020B0400000000000000" pitchFamily="34" charset="-128"/>
                <a:cs typeface="Arial" panose="020B0604020202020204" pitchFamily="34" charset="0"/>
              </a:rPr>
              <a:t>cogs</a:t>
            </a:r>
            <a:r>
              <a:rPr lang="fr-FR" sz="2400" b="1" dirty="0">
                <a:latin typeface="Arial" panose="020B0604020202020204" pitchFamily="34" charset="0"/>
                <a:ea typeface="Adobe Heiti Std R" panose="020B0400000000000000" pitchFamily="34" charset="-128"/>
                <a:cs typeface="Arial" panose="020B0604020202020204" pitchFamily="34" charset="0"/>
              </a:rPr>
              <a:t> (Partie 1)</a:t>
            </a:r>
          </a:p>
        </p:txBody>
      </p:sp>
      <p:sp>
        <p:nvSpPr>
          <p:cNvPr id="5" name="ZoneTexte 4">
            <a:extLst>
              <a:ext uri="{FF2B5EF4-FFF2-40B4-BE49-F238E27FC236}">
                <a16:creationId xmlns:a16="http://schemas.microsoft.com/office/drawing/2014/main" id="{959357B2-3CDE-782B-8921-BE449DE67D22}"/>
              </a:ext>
            </a:extLst>
          </p:cNvPr>
          <p:cNvSpPr txBox="1"/>
          <p:nvPr/>
        </p:nvSpPr>
        <p:spPr>
          <a:xfrm>
            <a:off x="740887" y="1733234"/>
            <a:ext cx="10800084" cy="1600438"/>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Les </a:t>
            </a:r>
            <a:r>
              <a:rPr lang="fr-FR" sz="1400" dirty="0" err="1">
                <a:latin typeface="Arial" panose="020B0604020202020204" pitchFamily="34" charset="0"/>
                <a:ea typeface="Adobe Heiti Std R" panose="020B0400000000000000" pitchFamily="34" charset="-128"/>
                <a:cs typeface="Arial" panose="020B0604020202020204" pitchFamily="34" charset="0"/>
              </a:rPr>
              <a:t>cogs</a:t>
            </a:r>
            <a:r>
              <a:rPr lang="fr-FR" sz="1400" dirty="0">
                <a:latin typeface="Arial" panose="020B0604020202020204" pitchFamily="34" charset="0"/>
                <a:ea typeface="Adobe Heiti Std R" panose="020B0400000000000000" pitchFamily="34" charset="-128"/>
                <a:cs typeface="Arial" panose="020B0604020202020204" pitchFamily="34" charset="0"/>
              </a:rPr>
              <a:t> servent à partager vos commandes en différents fichiers, afin de pouvoir organiser et structurer plus facilement votre code.</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a:p>
            <a:r>
              <a:rPr lang="fr-FR" sz="1400" dirty="0">
                <a:latin typeface="Arial" panose="020B0604020202020204" pitchFamily="34" charset="0"/>
                <a:ea typeface="Adobe Heiti Std R" panose="020B0400000000000000" pitchFamily="34" charset="-128"/>
                <a:cs typeface="Arial" panose="020B0604020202020204" pitchFamily="34" charset="0"/>
              </a:rPr>
              <a:t>Pour commencer, créez un nouveau dossier nommé « </a:t>
            </a:r>
            <a:r>
              <a:rPr lang="fr-FR" sz="1400" dirty="0" err="1">
                <a:latin typeface="Arial" panose="020B0604020202020204" pitchFamily="34" charset="0"/>
                <a:ea typeface="Adobe Heiti Std R" panose="020B0400000000000000" pitchFamily="34" charset="-128"/>
                <a:cs typeface="Arial" panose="020B0604020202020204" pitchFamily="34" charset="0"/>
              </a:rPr>
              <a:t>cogs</a:t>
            </a:r>
            <a:r>
              <a:rPr lang="fr-FR" sz="1400" dirty="0">
                <a:latin typeface="Arial" panose="020B0604020202020204" pitchFamily="34" charset="0"/>
                <a:ea typeface="Adobe Heiti Std R" panose="020B0400000000000000" pitchFamily="34" charset="-128"/>
                <a:cs typeface="Arial" panose="020B0604020202020204" pitchFamily="34" charset="0"/>
              </a:rPr>
              <a:t> » dans le dossier contenant votre fichier « main.py », puis dans ce dossier « </a:t>
            </a:r>
            <a:r>
              <a:rPr lang="fr-FR" sz="1400" dirty="0" err="1">
                <a:latin typeface="Arial" panose="020B0604020202020204" pitchFamily="34" charset="0"/>
                <a:ea typeface="Adobe Heiti Std R" panose="020B0400000000000000" pitchFamily="34" charset="-128"/>
                <a:cs typeface="Arial" panose="020B0604020202020204" pitchFamily="34" charset="0"/>
              </a:rPr>
              <a:t>cogs</a:t>
            </a:r>
            <a:r>
              <a:rPr lang="fr-FR" sz="1400" dirty="0">
                <a:latin typeface="Arial" panose="020B0604020202020204" pitchFamily="34" charset="0"/>
                <a:ea typeface="Adobe Heiti Std R" panose="020B0400000000000000" pitchFamily="34" charset="-128"/>
                <a:cs typeface="Arial" panose="020B0604020202020204" pitchFamily="34" charset="0"/>
              </a:rPr>
              <a:t> » créez un fichier python avec le nom que vous souhaitez. Dans mon exemple, je vais l’appeler « admin.py ».</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a:p>
            <a:r>
              <a:rPr lang="fr-FR" sz="1400" dirty="0">
                <a:latin typeface="Arial" panose="020B0604020202020204" pitchFamily="34" charset="0"/>
                <a:ea typeface="Adobe Heiti Std R" panose="020B0400000000000000" pitchFamily="34" charset="-128"/>
                <a:cs typeface="Arial" panose="020B0604020202020204" pitchFamily="34" charset="0"/>
              </a:rPr>
              <a:t>Dans votre fichier « main.py », ajoutez la ligne « </a:t>
            </a:r>
            <a:r>
              <a:rPr lang="en-US" sz="1200" b="0" dirty="0">
                <a:solidFill>
                  <a:srgbClr val="C586C0"/>
                </a:solidFill>
                <a:effectLst/>
                <a:latin typeface="Consolas" panose="020B0609020204030204" pitchFamily="49" charset="0"/>
              </a:rPr>
              <a:t>await</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self</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load_extension</a:t>
            </a:r>
            <a:r>
              <a:rPr lang="en-US" sz="1200" b="0" dirty="0">
                <a:solidFill>
                  <a:srgbClr val="D4D4D4"/>
                </a:solidFill>
                <a:effectLst/>
                <a:latin typeface="Consolas" panose="020B0609020204030204" pitchFamily="49" charset="0"/>
              </a:rPr>
              <a:t>(</a:t>
            </a:r>
            <a:r>
              <a:rPr lang="en-US" sz="1200" b="0" dirty="0" err="1">
                <a:solidFill>
                  <a:srgbClr val="569CD6"/>
                </a:solidFill>
                <a:effectLst/>
                <a:latin typeface="Consolas" panose="020B0609020204030204" pitchFamily="49" charset="0"/>
              </a:rPr>
              <a:t>f</a:t>
            </a:r>
            <a:r>
              <a:rPr lang="en-US" sz="1200" b="0" dirty="0" err="1">
                <a:solidFill>
                  <a:srgbClr val="CE9178"/>
                </a:solidFill>
                <a:effectLst/>
                <a:latin typeface="Consolas" panose="020B0609020204030204" pitchFamily="49" charset="0"/>
              </a:rPr>
              <a:t>"cogs.admin</a:t>
            </a:r>
            <a:r>
              <a:rPr lang="en-US" sz="1200" b="0" dirty="0">
                <a:solidFill>
                  <a:srgbClr val="CE9178"/>
                </a:solidFill>
                <a:effectLst/>
                <a:latin typeface="Consolas" panose="020B0609020204030204" pitchFamily="49" charset="0"/>
              </a:rPr>
              <a:t>"</a:t>
            </a:r>
            <a:r>
              <a:rPr lang="en-US" sz="1200" b="0" dirty="0">
                <a:solidFill>
                  <a:srgbClr val="D4D4D4"/>
                </a:solidFill>
                <a:effectLst/>
                <a:latin typeface="Consolas" panose="020B0609020204030204" pitchFamily="49" charset="0"/>
              </a:rPr>
              <a:t>)</a:t>
            </a:r>
            <a:r>
              <a:rPr lang="fr-FR" sz="1200" dirty="0">
                <a:latin typeface="Arial" panose="020B0604020202020204" pitchFamily="34" charset="0"/>
                <a:ea typeface="Adobe Heiti Std R" panose="020B0400000000000000" pitchFamily="34" charset="-128"/>
                <a:cs typeface="Arial" panose="020B0604020202020204" pitchFamily="34" charset="0"/>
              </a:rPr>
              <a:t> </a:t>
            </a:r>
            <a:r>
              <a:rPr lang="fr-FR" sz="1400" dirty="0">
                <a:latin typeface="Arial" panose="020B0604020202020204" pitchFamily="34" charset="0"/>
                <a:ea typeface="Adobe Heiti Std R" panose="020B0400000000000000" pitchFamily="34" charset="-128"/>
                <a:cs typeface="Arial" panose="020B0604020202020204" pitchFamily="34" charset="0"/>
              </a:rPr>
              <a:t>» dans votre fonction « </a:t>
            </a:r>
            <a:r>
              <a:rPr lang="fr-FR" sz="1400" dirty="0" err="1">
                <a:latin typeface="Arial" panose="020B0604020202020204" pitchFamily="34" charset="0"/>
                <a:ea typeface="Adobe Heiti Std R" panose="020B0400000000000000" pitchFamily="34" charset="-128"/>
                <a:cs typeface="Arial" panose="020B0604020202020204" pitchFamily="34" charset="0"/>
              </a:rPr>
              <a:t>setup_hook</a:t>
            </a:r>
            <a:r>
              <a:rPr lang="fr-FR" sz="1400" dirty="0">
                <a:latin typeface="Arial" panose="020B0604020202020204" pitchFamily="34" charset="0"/>
                <a:ea typeface="Adobe Heiti Std R" panose="020B0400000000000000" pitchFamily="34" charset="-128"/>
                <a:cs typeface="Arial" panose="020B0604020202020204" pitchFamily="34" charset="0"/>
              </a:rPr>
              <a:t> » et mettez le nom de votre fichier à la place de « admin ». Votre fonction devra ressembler à cela:</a:t>
            </a:r>
          </a:p>
        </p:txBody>
      </p:sp>
      <p:pic>
        <p:nvPicPr>
          <p:cNvPr id="7" name="Image 6">
            <a:extLst>
              <a:ext uri="{FF2B5EF4-FFF2-40B4-BE49-F238E27FC236}">
                <a16:creationId xmlns:a16="http://schemas.microsoft.com/office/drawing/2014/main" id="{4743138C-3407-ECC9-C491-B06AE350FB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887" y="3559428"/>
            <a:ext cx="4391117" cy="1651205"/>
          </a:xfrm>
          <a:prstGeom prst="rect">
            <a:avLst/>
          </a:prstGeom>
        </p:spPr>
      </p:pic>
    </p:spTree>
    <p:extLst>
      <p:ext uri="{BB962C8B-B14F-4D97-AF65-F5344CB8AC3E}">
        <p14:creationId xmlns:p14="http://schemas.microsoft.com/office/powerpoint/2010/main" val="2361131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Les </a:t>
            </a:r>
            <a:r>
              <a:rPr lang="fr-FR" sz="2400" b="1" dirty="0" err="1">
                <a:latin typeface="Arial" panose="020B0604020202020204" pitchFamily="34" charset="0"/>
                <a:ea typeface="Adobe Heiti Std R" panose="020B0400000000000000" pitchFamily="34" charset="-128"/>
                <a:cs typeface="Arial" panose="020B0604020202020204" pitchFamily="34" charset="0"/>
              </a:rPr>
              <a:t>cogs</a:t>
            </a:r>
            <a:r>
              <a:rPr lang="fr-FR" sz="2400" b="1" dirty="0">
                <a:latin typeface="Arial" panose="020B0604020202020204" pitchFamily="34" charset="0"/>
                <a:ea typeface="Adobe Heiti Std R" panose="020B0400000000000000" pitchFamily="34" charset="-128"/>
                <a:cs typeface="Arial" panose="020B0604020202020204" pitchFamily="34" charset="0"/>
              </a:rPr>
              <a:t> (Partie 2)</a:t>
            </a:r>
          </a:p>
        </p:txBody>
      </p:sp>
      <p:sp>
        <p:nvSpPr>
          <p:cNvPr id="5" name="ZoneTexte 4">
            <a:extLst>
              <a:ext uri="{FF2B5EF4-FFF2-40B4-BE49-F238E27FC236}">
                <a16:creationId xmlns:a16="http://schemas.microsoft.com/office/drawing/2014/main" id="{959357B2-3CDE-782B-8921-BE449DE67D22}"/>
              </a:ext>
            </a:extLst>
          </p:cNvPr>
          <p:cNvSpPr txBox="1"/>
          <p:nvPr/>
        </p:nvSpPr>
        <p:spPr>
          <a:xfrm>
            <a:off x="5822670" y="1475782"/>
            <a:ext cx="5628443" cy="2677656"/>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Dans votre fichier « admin.py », mettez ce code.</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a:p>
            <a:r>
              <a:rPr lang="fr-FR" sz="1400" dirty="0">
                <a:latin typeface="Arial" panose="020B0604020202020204" pitchFamily="34" charset="0"/>
                <a:ea typeface="Adobe Heiti Std R" panose="020B0400000000000000" pitchFamily="34" charset="-128"/>
                <a:cs typeface="Arial" panose="020B0604020202020204" pitchFamily="34" charset="0"/>
              </a:rPr>
              <a:t>Explication du code:</a:t>
            </a: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Le </a:t>
            </a:r>
            <a:r>
              <a:rPr lang="fr-FR" sz="1400" dirty="0" err="1">
                <a:latin typeface="Arial" panose="020B0604020202020204" pitchFamily="34" charset="0"/>
                <a:ea typeface="Adobe Heiti Std R" panose="020B0400000000000000" pitchFamily="34" charset="-128"/>
                <a:cs typeface="Arial" panose="020B0604020202020204" pitchFamily="34" charset="0"/>
              </a:rPr>
              <a:t>print</a:t>
            </a:r>
            <a:r>
              <a:rPr lang="fr-FR" sz="1400" dirty="0">
                <a:latin typeface="Arial" panose="020B0604020202020204" pitchFamily="34" charset="0"/>
                <a:ea typeface="Adobe Heiti Std R" panose="020B0400000000000000" pitchFamily="34" charset="-128"/>
                <a:cs typeface="Arial" panose="020B0604020202020204" pitchFamily="34" charset="0"/>
              </a:rPr>
              <a:t> à la ligne 1 servira à vérifier si le </a:t>
            </a:r>
            <a:r>
              <a:rPr lang="fr-FR" sz="1400" dirty="0" err="1">
                <a:latin typeface="Arial" panose="020B0604020202020204" pitchFamily="34" charset="0"/>
                <a:ea typeface="Adobe Heiti Std R" panose="020B0400000000000000" pitchFamily="34" charset="-128"/>
                <a:cs typeface="Arial" panose="020B0604020202020204" pitchFamily="34" charset="0"/>
              </a:rPr>
              <a:t>cog</a:t>
            </a:r>
            <a:r>
              <a:rPr lang="fr-FR" sz="1400" dirty="0">
                <a:latin typeface="Arial" panose="020B0604020202020204" pitchFamily="34" charset="0"/>
                <a:ea typeface="Adobe Heiti Std R" panose="020B0400000000000000" pitchFamily="34" charset="-128"/>
                <a:cs typeface="Arial" panose="020B0604020202020204" pitchFamily="34" charset="0"/>
              </a:rPr>
              <a:t> c’est bien chargé lors du lancement du bot.</a:t>
            </a:r>
          </a:p>
          <a:p>
            <a:pPr marL="285750" indent="-285750">
              <a:buFont typeface="Arial" panose="020B0604020202020204" pitchFamily="34" charset="0"/>
              <a:buChar char="•"/>
            </a:pPr>
            <a:endParaRPr lang="fr-FR" sz="1400" dirty="0">
              <a:latin typeface="Arial" panose="020B0604020202020204" pitchFamily="34" charset="0"/>
              <a:ea typeface="Adobe Heiti Std R" panose="020B0400000000000000" pitchFamily="34" charset="-128"/>
              <a:cs typeface="Arial" panose="020B0604020202020204" pitchFamily="34" charset="0"/>
            </a:endParaRP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La class Admin est l’endroit qui contiendra les commandes slash.</a:t>
            </a:r>
          </a:p>
          <a:p>
            <a:pPr marL="285750" indent="-285750">
              <a:buFont typeface="Arial" panose="020B0604020202020204" pitchFamily="34" charset="0"/>
              <a:buChar char="•"/>
            </a:pPr>
            <a:endParaRPr lang="fr-FR" sz="1400" dirty="0">
              <a:latin typeface="Arial" panose="020B0604020202020204" pitchFamily="34" charset="0"/>
              <a:ea typeface="Adobe Heiti Std R" panose="020B0400000000000000" pitchFamily="34" charset="-128"/>
              <a:cs typeface="Arial" panose="020B0604020202020204" pitchFamily="34" charset="0"/>
            </a:endParaRPr>
          </a:p>
          <a:p>
            <a:pPr marL="285750" indent="-285750">
              <a:buFont typeface="Arial" panose="020B0604020202020204" pitchFamily="34" charset="0"/>
              <a:buChar char="•"/>
            </a:pPr>
            <a:r>
              <a:rPr lang="fr-FR" sz="1400" dirty="0">
                <a:latin typeface="Arial" panose="020B0604020202020204" pitchFamily="34" charset="0"/>
                <a:ea typeface="Adobe Heiti Std R" panose="020B0400000000000000" pitchFamily="34" charset="-128"/>
                <a:cs typeface="Arial" panose="020B0604020202020204" pitchFamily="34" charset="0"/>
              </a:rPr>
              <a:t>La fonction setup est appelée automatiquement lors du chargement du </a:t>
            </a:r>
            <a:r>
              <a:rPr lang="fr-FR" sz="1400" dirty="0" err="1">
                <a:latin typeface="Arial" panose="020B0604020202020204" pitchFamily="34" charset="0"/>
                <a:ea typeface="Adobe Heiti Std R" panose="020B0400000000000000" pitchFamily="34" charset="-128"/>
                <a:cs typeface="Arial" panose="020B0604020202020204" pitchFamily="34" charset="0"/>
              </a:rPr>
              <a:t>cog</a:t>
            </a:r>
            <a:r>
              <a:rPr lang="fr-FR" sz="1400" dirty="0">
                <a:latin typeface="Arial" panose="020B0604020202020204" pitchFamily="34" charset="0"/>
                <a:ea typeface="Adobe Heiti Std R" panose="020B0400000000000000" pitchFamily="34" charset="-128"/>
                <a:cs typeface="Arial" panose="020B0604020202020204" pitchFamily="34" charset="0"/>
              </a:rPr>
              <a:t>.</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a:p>
            <a:endParaRPr lang="fr-FR" sz="1400" dirty="0">
              <a:latin typeface="Arial" panose="020B0604020202020204" pitchFamily="34" charset="0"/>
              <a:ea typeface="Adobe Heiti Std R" panose="020B0400000000000000" pitchFamily="34" charset="-128"/>
              <a:cs typeface="Arial" panose="020B0604020202020204" pitchFamily="34" charset="0"/>
            </a:endParaRPr>
          </a:p>
        </p:txBody>
      </p:sp>
      <p:pic>
        <p:nvPicPr>
          <p:cNvPr id="9" name="Image 8">
            <a:extLst>
              <a:ext uri="{FF2B5EF4-FFF2-40B4-BE49-F238E27FC236}">
                <a16:creationId xmlns:a16="http://schemas.microsoft.com/office/drawing/2014/main" id="{836B1589-48CB-ED5D-0531-80C67F00A0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887" y="1191696"/>
            <a:ext cx="4754333" cy="4585871"/>
          </a:xfrm>
          <a:prstGeom prst="rect">
            <a:avLst/>
          </a:prstGeom>
        </p:spPr>
      </p:pic>
    </p:spTree>
    <p:extLst>
      <p:ext uri="{BB962C8B-B14F-4D97-AF65-F5344CB8AC3E}">
        <p14:creationId xmlns:p14="http://schemas.microsoft.com/office/powerpoint/2010/main" val="1397066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Les commandes slash - Base</a:t>
            </a:r>
          </a:p>
        </p:txBody>
      </p:sp>
      <p:sp>
        <p:nvSpPr>
          <p:cNvPr id="5" name="ZoneTexte 4">
            <a:extLst>
              <a:ext uri="{FF2B5EF4-FFF2-40B4-BE49-F238E27FC236}">
                <a16:creationId xmlns:a16="http://schemas.microsoft.com/office/drawing/2014/main" id="{959357B2-3CDE-782B-8921-BE449DE67D22}"/>
              </a:ext>
            </a:extLst>
          </p:cNvPr>
          <p:cNvSpPr txBox="1"/>
          <p:nvPr/>
        </p:nvSpPr>
        <p:spPr>
          <a:xfrm>
            <a:off x="740887" y="978632"/>
            <a:ext cx="10405711" cy="954107"/>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Les commandes slash sont les commandes qui sont affichées dans un petit menu lorsque vous tapez « / » en début de message sur discord.</a:t>
            </a:r>
          </a:p>
          <a:p>
            <a:endParaRPr lang="fr-FR" sz="1400" dirty="0">
              <a:latin typeface="Arial" panose="020B0604020202020204" pitchFamily="34" charset="0"/>
              <a:ea typeface="Adobe Heiti Std R" panose="020B0400000000000000" pitchFamily="34" charset="-128"/>
              <a:cs typeface="Arial" panose="020B0604020202020204" pitchFamily="34" charset="0"/>
            </a:endParaRPr>
          </a:p>
          <a:p>
            <a:r>
              <a:rPr lang="fr-FR" sz="1400" dirty="0">
                <a:latin typeface="Arial" panose="020B0604020202020204" pitchFamily="34" charset="0"/>
                <a:ea typeface="Adobe Heiti Std R" panose="020B0400000000000000" pitchFamily="34" charset="-128"/>
                <a:cs typeface="Arial" panose="020B0604020202020204" pitchFamily="34" charset="0"/>
              </a:rPr>
              <a:t>Nous allons créer une commande qui sera affichée dans ce menu.</a:t>
            </a:r>
          </a:p>
        </p:txBody>
      </p:sp>
      <p:pic>
        <p:nvPicPr>
          <p:cNvPr id="4" name="Image 3">
            <a:extLst>
              <a:ext uri="{FF2B5EF4-FFF2-40B4-BE49-F238E27FC236}">
                <a16:creationId xmlns:a16="http://schemas.microsoft.com/office/drawing/2014/main" id="{63E3AE49-5ACB-06BB-3E1E-DAE8966BAD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888" y="1932739"/>
            <a:ext cx="6592068" cy="2379490"/>
          </a:xfrm>
          <a:prstGeom prst="rect">
            <a:avLst/>
          </a:prstGeom>
        </p:spPr>
      </p:pic>
      <p:sp>
        <p:nvSpPr>
          <p:cNvPr id="6" name="ZoneTexte 5">
            <a:extLst>
              <a:ext uri="{FF2B5EF4-FFF2-40B4-BE49-F238E27FC236}">
                <a16:creationId xmlns:a16="http://schemas.microsoft.com/office/drawing/2014/main" id="{724B1CBF-A965-57BF-57E3-D32DFB3929AF}"/>
              </a:ext>
            </a:extLst>
          </p:cNvPr>
          <p:cNvSpPr txBox="1"/>
          <p:nvPr/>
        </p:nvSpPr>
        <p:spPr>
          <a:xfrm>
            <a:off x="7581529" y="2032986"/>
            <a:ext cx="4021585" cy="3539430"/>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Ce code doit être mis dans votre </a:t>
            </a:r>
            <a:r>
              <a:rPr lang="fr-FR" sz="1400" dirty="0" err="1">
                <a:latin typeface="Arial" panose="020B0604020202020204" pitchFamily="34" charset="0"/>
                <a:cs typeface="Arial" panose="020B0604020202020204" pitchFamily="34" charset="0"/>
              </a:rPr>
              <a:t>cog</a:t>
            </a:r>
            <a:r>
              <a:rPr lang="fr-FR" sz="1400" dirty="0">
                <a:latin typeface="Arial" panose="020B0604020202020204" pitchFamily="34" charset="0"/>
                <a:cs typeface="Arial" panose="020B0604020202020204" pitchFamily="34" charset="0"/>
              </a:rPr>
              <a:t>.</a:t>
            </a:r>
          </a:p>
          <a:p>
            <a:endParaRPr lang="fr-FR" sz="1400" dirty="0">
              <a:latin typeface="Arial" panose="020B0604020202020204" pitchFamily="34" charset="0"/>
              <a:cs typeface="Arial" panose="020B0604020202020204" pitchFamily="34" charset="0"/>
            </a:endParaRPr>
          </a:p>
          <a:p>
            <a:r>
              <a:rPr lang="fr-FR" sz="1400" dirty="0">
                <a:latin typeface="Arial" panose="020B0604020202020204" pitchFamily="34" charset="0"/>
                <a:cs typeface="Arial" panose="020B0604020202020204" pitchFamily="34" charset="0"/>
              </a:rPr>
              <a:t>Explication du code:</a:t>
            </a:r>
          </a:p>
          <a:p>
            <a:pPr marL="285750" indent="-285750">
              <a:buFont typeface="Arial" panose="020B0604020202020204" pitchFamily="34" charset="0"/>
              <a:buChar char="•"/>
            </a:pPr>
            <a:r>
              <a:rPr lang="fr-FR" sz="1400" dirty="0">
                <a:latin typeface="Arial" panose="020B0604020202020204" pitchFamily="34" charset="0"/>
                <a:cs typeface="Arial" panose="020B0604020202020204" pitchFamily="34" charset="0"/>
              </a:rPr>
              <a:t>On crée une fonction « bonjour » ainsi qu’un décorateur (la ligne avec « @ ») : c’est la base d’une commande slash.</a:t>
            </a:r>
          </a:p>
          <a:p>
            <a:pPr marL="285750" indent="-285750">
              <a:buFont typeface="Arial" panose="020B0604020202020204" pitchFamily="34" charset="0"/>
              <a:buChar char="•"/>
            </a:pPr>
            <a:endParaRPr lang="fr-FR"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fr-FR" sz="1400" dirty="0">
                <a:latin typeface="Arial" panose="020B0604020202020204" pitchFamily="34" charset="0"/>
                <a:cs typeface="Arial" panose="020B0604020202020204" pitchFamily="34" charset="0"/>
              </a:rPr>
              <a:t>La ligne « </a:t>
            </a:r>
            <a:r>
              <a:rPr lang="fr-FR" sz="1200" b="0" dirty="0" err="1">
                <a:solidFill>
                  <a:srgbClr val="C586C0"/>
                </a:solidFill>
                <a:effectLst/>
                <a:latin typeface="Consolas" panose="020B0609020204030204" pitchFamily="49" charset="0"/>
              </a:rPr>
              <a:t>await</a:t>
            </a:r>
            <a:r>
              <a:rPr lang="fr-FR" sz="1200" b="0" dirty="0">
                <a:solidFill>
                  <a:srgbClr val="D4D4D4"/>
                </a:solidFill>
                <a:effectLst/>
                <a:latin typeface="Consolas" panose="020B0609020204030204" pitchFamily="49" charset="0"/>
              </a:rPr>
              <a:t> </a:t>
            </a:r>
            <a:r>
              <a:rPr lang="fr-FR" sz="1200" b="0" dirty="0" err="1">
                <a:solidFill>
                  <a:srgbClr val="9CDCFE"/>
                </a:solidFill>
                <a:effectLst/>
                <a:latin typeface="Consolas" panose="020B0609020204030204" pitchFamily="49" charset="0"/>
              </a:rPr>
              <a:t>interaction</a:t>
            </a:r>
            <a:r>
              <a:rPr lang="fr-FR" sz="1200" b="0" dirty="0" err="1">
                <a:solidFill>
                  <a:srgbClr val="D4D4D4"/>
                </a:solidFill>
                <a:effectLst/>
                <a:latin typeface="Consolas" panose="020B0609020204030204" pitchFamily="49" charset="0"/>
              </a:rPr>
              <a:t>.</a:t>
            </a:r>
            <a:r>
              <a:rPr lang="fr-FR" sz="1200" b="0" dirty="0" err="1">
                <a:solidFill>
                  <a:srgbClr val="9CDCFE"/>
                </a:solidFill>
                <a:effectLst/>
                <a:latin typeface="Consolas" panose="020B0609020204030204" pitchFamily="49" charset="0"/>
              </a:rPr>
              <a:t>response</a:t>
            </a:r>
            <a:r>
              <a:rPr lang="fr-FR" sz="1200" b="0" dirty="0" err="1">
                <a:solidFill>
                  <a:srgbClr val="D4D4D4"/>
                </a:solidFill>
                <a:effectLst/>
                <a:latin typeface="Consolas" panose="020B0609020204030204" pitchFamily="49" charset="0"/>
              </a:rPr>
              <a:t>.</a:t>
            </a:r>
            <a:r>
              <a:rPr lang="fr-FR" sz="1200" b="0" dirty="0" err="1">
                <a:solidFill>
                  <a:srgbClr val="DCDCAA"/>
                </a:solidFill>
                <a:effectLst/>
                <a:latin typeface="Consolas" panose="020B0609020204030204" pitchFamily="49" charset="0"/>
              </a:rPr>
              <a:t>send_message</a:t>
            </a:r>
            <a:r>
              <a:rPr lang="fr-FR" sz="1200" b="0" dirty="0">
                <a:solidFill>
                  <a:srgbClr val="D4D4D4"/>
                </a:solidFill>
                <a:effectLst/>
                <a:latin typeface="Consolas" panose="020B0609020204030204" pitchFamily="49" charset="0"/>
              </a:rPr>
              <a:t>(</a:t>
            </a:r>
            <a:r>
              <a:rPr lang="fr-FR" sz="1200" b="0" dirty="0">
                <a:solidFill>
                  <a:srgbClr val="CE9178"/>
                </a:solidFill>
                <a:effectLst/>
                <a:latin typeface="Consolas" panose="020B0609020204030204" pitchFamily="49" charset="0"/>
              </a:rPr>
              <a:t>…</a:t>
            </a:r>
            <a:r>
              <a:rPr lang="fr-FR" sz="1200" b="0" dirty="0">
                <a:solidFill>
                  <a:srgbClr val="D4D4D4"/>
                </a:solidFill>
                <a:effectLst/>
                <a:latin typeface="Consolas" panose="020B0609020204030204" pitchFamily="49" charset="0"/>
              </a:rPr>
              <a:t>)</a:t>
            </a:r>
            <a:r>
              <a:rPr lang="fr-FR" sz="1200" dirty="0">
                <a:latin typeface="Arial" panose="020B0604020202020204" pitchFamily="34" charset="0"/>
                <a:cs typeface="Arial" panose="020B0604020202020204" pitchFamily="34" charset="0"/>
              </a:rPr>
              <a:t> </a:t>
            </a:r>
            <a:r>
              <a:rPr lang="fr-FR" sz="1400" dirty="0">
                <a:latin typeface="Arial" panose="020B0604020202020204" pitchFamily="34" charset="0"/>
                <a:cs typeface="Arial" panose="020B0604020202020204" pitchFamily="34" charset="0"/>
              </a:rPr>
              <a:t>» sert à répondre à notre commande. Dans notre exemple le bot va répondre « Bonjour ». Grâce à « </a:t>
            </a:r>
            <a:r>
              <a:rPr lang="fr-FR" sz="1200" b="0" dirty="0" err="1">
                <a:solidFill>
                  <a:srgbClr val="9CDCFE"/>
                </a:solidFill>
                <a:effectLst/>
                <a:latin typeface="Consolas" panose="020B0609020204030204" pitchFamily="49" charset="0"/>
              </a:rPr>
              <a:t>ephemeral</a:t>
            </a:r>
            <a:r>
              <a:rPr lang="fr-FR" sz="1200" b="0" dirty="0">
                <a:solidFill>
                  <a:srgbClr val="D4D4D4"/>
                </a:solidFill>
                <a:effectLst/>
                <a:latin typeface="Consolas" panose="020B0609020204030204" pitchFamily="49" charset="0"/>
              </a:rPr>
              <a:t>=</a:t>
            </a:r>
            <a:r>
              <a:rPr lang="fr-FR" sz="1200" b="0" dirty="0" err="1">
                <a:solidFill>
                  <a:srgbClr val="569CD6"/>
                </a:solidFill>
                <a:effectLst/>
                <a:latin typeface="Consolas" panose="020B0609020204030204" pitchFamily="49" charset="0"/>
              </a:rPr>
              <a:t>True</a:t>
            </a:r>
            <a:r>
              <a:rPr lang="fr-FR" sz="1400" dirty="0">
                <a:latin typeface="Arial" panose="020B0604020202020204" pitchFamily="34" charset="0"/>
                <a:cs typeface="Arial" panose="020B0604020202020204" pitchFamily="34" charset="0"/>
              </a:rPr>
              <a:t> » la réponse du bot ne sera visible que par l’utilisateur ayant fait la commande. Si vous voulez que la réponse soit visible par tout le monde, vous pouvez simplement enlever cette partie.</a:t>
            </a:r>
          </a:p>
        </p:txBody>
      </p:sp>
      <p:pic>
        <p:nvPicPr>
          <p:cNvPr id="11" name="Image 10">
            <a:extLst>
              <a:ext uri="{FF2B5EF4-FFF2-40B4-BE49-F238E27FC236}">
                <a16:creationId xmlns:a16="http://schemas.microsoft.com/office/drawing/2014/main" id="{A13E0BBE-61EB-32C8-3E63-53C1756ECA23}"/>
              </a:ext>
            </a:extLst>
          </p:cNvPr>
          <p:cNvPicPr>
            <a:picLocks noChangeAspect="1"/>
          </p:cNvPicPr>
          <p:nvPr/>
        </p:nvPicPr>
        <p:blipFill rotWithShape="1">
          <a:blip r:embed="rId3"/>
          <a:srcRect l="794" r="1"/>
          <a:stretch/>
        </p:blipFill>
        <p:spPr>
          <a:xfrm>
            <a:off x="874051" y="5110389"/>
            <a:ext cx="3430583" cy="924054"/>
          </a:xfrm>
          <a:prstGeom prst="rect">
            <a:avLst/>
          </a:prstGeom>
        </p:spPr>
      </p:pic>
      <p:sp>
        <p:nvSpPr>
          <p:cNvPr id="12" name="ZoneTexte 11">
            <a:extLst>
              <a:ext uri="{FF2B5EF4-FFF2-40B4-BE49-F238E27FC236}">
                <a16:creationId xmlns:a16="http://schemas.microsoft.com/office/drawing/2014/main" id="{D5C4AA43-50DB-794F-9A7B-DC2195BBCE64}"/>
              </a:ext>
            </a:extLst>
          </p:cNvPr>
          <p:cNvSpPr txBox="1"/>
          <p:nvPr/>
        </p:nvSpPr>
        <p:spPr>
          <a:xfrm>
            <a:off x="740886" y="4771373"/>
            <a:ext cx="10405711" cy="307777"/>
          </a:xfrm>
          <a:prstGeom prst="rect">
            <a:avLst/>
          </a:prstGeom>
          <a:noFill/>
        </p:spPr>
        <p:txBody>
          <a:bodyPr wrap="square" rtlCol="0">
            <a:spAutoFit/>
          </a:bodyPr>
          <a:lstStyle/>
          <a:p>
            <a:r>
              <a:rPr lang="fr-FR" sz="1400" dirty="0">
                <a:latin typeface="Arial" panose="020B0604020202020204" pitchFamily="34" charset="0"/>
                <a:ea typeface="Adobe Heiti Std R" panose="020B0400000000000000" pitchFamily="34" charset="-128"/>
                <a:cs typeface="Arial" panose="020B0604020202020204" pitchFamily="34" charset="0"/>
              </a:rPr>
              <a:t>Réponse du bot:</a:t>
            </a:r>
          </a:p>
        </p:txBody>
      </p:sp>
    </p:spTree>
    <p:extLst>
      <p:ext uri="{BB962C8B-B14F-4D97-AF65-F5344CB8AC3E}">
        <p14:creationId xmlns:p14="http://schemas.microsoft.com/office/powerpoint/2010/main" val="1275822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Les commandes slash – Paramètres (Partie 1)</a:t>
            </a:r>
          </a:p>
        </p:txBody>
      </p:sp>
      <p:sp>
        <p:nvSpPr>
          <p:cNvPr id="6" name="ZoneTexte 5">
            <a:extLst>
              <a:ext uri="{FF2B5EF4-FFF2-40B4-BE49-F238E27FC236}">
                <a16:creationId xmlns:a16="http://schemas.microsoft.com/office/drawing/2014/main" id="{724B1CBF-A965-57BF-57E3-D32DFB3929AF}"/>
              </a:ext>
            </a:extLst>
          </p:cNvPr>
          <p:cNvSpPr txBox="1"/>
          <p:nvPr/>
        </p:nvSpPr>
        <p:spPr>
          <a:xfrm>
            <a:off x="740887" y="1210249"/>
            <a:ext cx="10067279"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Pour ajouter des paramètres à la commande, il suffit d’en ajouter à la fonction.</a:t>
            </a:r>
          </a:p>
        </p:txBody>
      </p:sp>
      <p:sp>
        <p:nvSpPr>
          <p:cNvPr id="8" name="ZoneTexte 7">
            <a:extLst>
              <a:ext uri="{FF2B5EF4-FFF2-40B4-BE49-F238E27FC236}">
                <a16:creationId xmlns:a16="http://schemas.microsoft.com/office/drawing/2014/main" id="{044F0755-5271-8D8A-0E95-BA4C35F50599}"/>
              </a:ext>
            </a:extLst>
          </p:cNvPr>
          <p:cNvSpPr txBox="1"/>
          <p:nvPr/>
        </p:nvSpPr>
        <p:spPr>
          <a:xfrm>
            <a:off x="7513852" y="1677824"/>
            <a:ext cx="4124773" cy="1384995"/>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Dans cet exemple, j’ai ajouté deux paramètres à ma fonction: « nom » qui est une chaîne de caractères (</a:t>
            </a:r>
            <a:r>
              <a:rPr lang="fr-FR" sz="1400" dirty="0" err="1">
                <a:latin typeface="Arial" panose="020B0604020202020204" pitchFamily="34" charset="0"/>
                <a:cs typeface="Arial" panose="020B0604020202020204" pitchFamily="34" charset="0"/>
              </a:rPr>
              <a:t>str</a:t>
            </a:r>
            <a:r>
              <a:rPr lang="fr-FR" sz="1400" dirty="0">
                <a:latin typeface="Arial" panose="020B0604020202020204" pitchFamily="34" charset="0"/>
                <a:cs typeface="Arial" panose="020B0604020202020204" pitchFamily="34" charset="0"/>
              </a:rPr>
              <a:t>) et qui est obligatoire, ainsi que « </a:t>
            </a:r>
            <a:r>
              <a:rPr lang="fr-FR" sz="1400" dirty="0" err="1">
                <a:latin typeface="Arial" panose="020B0604020202020204" pitchFamily="34" charset="0"/>
                <a:cs typeface="Arial" panose="020B0604020202020204" pitchFamily="34" charset="0"/>
              </a:rPr>
              <a:t>age</a:t>
            </a:r>
            <a:r>
              <a:rPr lang="fr-FR" sz="1400" dirty="0">
                <a:latin typeface="Arial" panose="020B0604020202020204" pitchFamily="34" charset="0"/>
                <a:cs typeface="Arial" panose="020B0604020202020204" pitchFamily="34" charset="0"/>
              </a:rPr>
              <a:t> » qui est un entier (</a:t>
            </a:r>
            <a:r>
              <a:rPr lang="fr-FR" sz="1400" dirty="0" err="1">
                <a:latin typeface="Arial" panose="020B0604020202020204" pitchFamily="34" charset="0"/>
                <a:cs typeface="Arial" panose="020B0604020202020204" pitchFamily="34" charset="0"/>
              </a:rPr>
              <a:t>int</a:t>
            </a:r>
            <a:r>
              <a:rPr lang="fr-FR" sz="1400" dirty="0">
                <a:latin typeface="Arial" panose="020B0604020202020204" pitchFamily="34" charset="0"/>
                <a:cs typeface="Arial" panose="020B0604020202020204" pitchFamily="34" charset="0"/>
              </a:rPr>
              <a:t>) et qui est optionnel (car j’ai spécifié une valeur par défaut qui est « None »).</a:t>
            </a:r>
          </a:p>
        </p:txBody>
      </p:sp>
      <p:pic>
        <p:nvPicPr>
          <p:cNvPr id="10" name="Image 9">
            <a:extLst>
              <a:ext uri="{FF2B5EF4-FFF2-40B4-BE49-F238E27FC236}">
                <a16:creationId xmlns:a16="http://schemas.microsoft.com/office/drawing/2014/main" id="{7703E998-558F-E55A-CB90-E164BDCEC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887" y="1518026"/>
            <a:ext cx="6772965" cy="1910974"/>
          </a:xfrm>
          <a:prstGeom prst="rect">
            <a:avLst/>
          </a:prstGeom>
        </p:spPr>
      </p:pic>
      <p:pic>
        <p:nvPicPr>
          <p:cNvPr id="14" name="Image 13">
            <a:extLst>
              <a:ext uri="{FF2B5EF4-FFF2-40B4-BE49-F238E27FC236}">
                <a16:creationId xmlns:a16="http://schemas.microsoft.com/office/drawing/2014/main" id="{3EC07EDC-CE6A-7F66-64D7-CBDC54635928}"/>
              </a:ext>
            </a:extLst>
          </p:cNvPr>
          <p:cNvPicPr>
            <a:picLocks noChangeAspect="1"/>
          </p:cNvPicPr>
          <p:nvPr/>
        </p:nvPicPr>
        <p:blipFill rotWithShape="1">
          <a:blip r:embed="rId3"/>
          <a:srcRect l="952"/>
          <a:stretch/>
        </p:blipFill>
        <p:spPr>
          <a:xfrm>
            <a:off x="853203" y="4251682"/>
            <a:ext cx="3274166" cy="1695687"/>
          </a:xfrm>
          <a:prstGeom prst="rect">
            <a:avLst/>
          </a:prstGeom>
        </p:spPr>
      </p:pic>
      <p:pic>
        <p:nvPicPr>
          <p:cNvPr id="16" name="Image 15">
            <a:extLst>
              <a:ext uri="{FF2B5EF4-FFF2-40B4-BE49-F238E27FC236}">
                <a16:creationId xmlns:a16="http://schemas.microsoft.com/office/drawing/2014/main" id="{259D30B2-41EF-5F62-ABA5-C311DA5D654A}"/>
              </a:ext>
            </a:extLst>
          </p:cNvPr>
          <p:cNvPicPr>
            <a:picLocks noChangeAspect="1"/>
          </p:cNvPicPr>
          <p:nvPr/>
        </p:nvPicPr>
        <p:blipFill>
          <a:blip r:embed="rId4"/>
          <a:stretch>
            <a:fillRect/>
          </a:stretch>
        </p:blipFill>
        <p:spPr>
          <a:xfrm>
            <a:off x="4425120" y="4251682"/>
            <a:ext cx="3191320" cy="847843"/>
          </a:xfrm>
          <a:prstGeom prst="rect">
            <a:avLst/>
          </a:prstGeom>
        </p:spPr>
      </p:pic>
      <p:sp>
        <p:nvSpPr>
          <p:cNvPr id="17" name="ZoneTexte 16">
            <a:extLst>
              <a:ext uri="{FF2B5EF4-FFF2-40B4-BE49-F238E27FC236}">
                <a16:creationId xmlns:a16="http://schemas.microsoft.com/office/drawing/2014/main" id="{8CE5C074-8539-A383-4618-B24171CB55C4}"/>
              </a:ext>
            </a:extLst>
          </p:cNvPr>
          <p:cNvSpPr txBox="1"/>
          <p:nvPr/>
        </p:nvSpPr>
        <p:spPr>
          <a:xfrm>
            <a:off x="740887" y="3736777"/>
            <a:ext cx="3684233"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Affichage sur discord:</a:t>
            </a:r>
          </a:p>
        </p:txBody>
      </p:sp>
      <p:pic>
        <p:nvPicPr>
          <p:cNvPr id="19" name="Image 18">
            <a:extLst>
              <a:ext uri="{FF2B5EF4-FFF2-40B4-BE49-F238E27FC236}">
                <a16:creationId xmlns:a16="http://schemas.microsoft.com/office/drawing/2014/main" id="{1A2E4749-55CD-2F29-5956-61B3ED30B086}"/>
              </a:ext>
            </a:extLst>
          </p:cNvPr>
          <p:cNvPicPr>
            <a:picLocks noChangeAspect="1"/>
          </p:cNvPicPr>
          <p:nvPr/>
        </p:nvPicPr>
        <p:blipFill>
          <a:blip r:embed="rId5"/>
          <a:stretch>
            <a:fillRect/>
          </a:stretch>
        </p:blipFill>
        <p:spPr>
          <a:xfrm>
            <a:off x="4425120" y="5099525"/>
            <a:ext cx="3381847" cy="857370"/>
          </a:xfrm>
          <a:prstGeom prst="rect">
            <a:avLst/>
          </a:prstGeom>
        </p:spPr>
      </p:pic>
    </p:spTree>
    <p:extLst>
      <p:ext uri="{BB962C8B-B14F-4D97-AF65-F5344CB8AC3E}">
        <p14:creationId xmlns:p14="http://schemas.microsoft.com/office/powerpoint/2010/main" val="4245581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Les commandes slash – Paramètres (Partie 2)</a:t>
            </a:r>
          </a:p>
        </p:txBody>
      </p:sp>
      <p:sp>
        <p:nvSpPr>
          <p:cNvPr id="6" name="ZoneTexte 5">
            <a:extLst>
              <a:ext uri="{FF2B5EF4-FFF2-40B4-BE49-F238E27FC236}">
                <a16:creationId xmlns:a16="http://schemas.microsoft.com/office/drawing/2014/main" id="{724B1CBF-A965-57BF-57E3-D32DFB3929AF}"/>
              </a:ext>
            </a:extLst>
          </p:cNvPr>
          <p:cNvSpPr txBox="1"/>
          <p:nvPr/>
        </p:nvSpPr>
        <p:spPr>
          <a:xfrm>
            <a:off x="740887" y="1210249"/>
            <a:ext cx="10067279" cy="523220"/>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Il existe des types de paramètres propres à discord, comme « </a:t>
            </a:r>
            <a:r>
              <a:rPr lang="fr-FR" sz="1400" dirty="0" err="1">
                <a:latin typeface="Arial" panose="020B0604020202020204" pitchFamily="34" charset="0"/>
                <a:cs typeface="Arial" panose="020B0604020202020204" pitchFamily="34" charset="0"/>
              </a:rPr>
              <a:t>discord.User</a:t>
            </a:r>
            <a:r>
              <a:rPr lang="fr-FR" sz="1400" dirty="0">
                <a:latin typeface="Arial" panose="020B0604020202020204" pitchFamily="34" charset="0"/>
                <a:cs typeface="Arial" panose="020B0604020202020204" pitchFamily="34" charset="0"/>
              </a:rPr>
              <a:t> » qui permet de pouvoir choisir un membre parmi ceux du serveur.</a:t>
            </a:r>
          </a:p>
        </p:txBody>
      </p:sp>
      <p:pic>
        <p:nvPicPr>
          <p:cNvPr id="4" name="Image 3">
            <a:extLst>
              <a:ext uri="{FF2B5EF4-FFF2-40B4-BE49-F238E27FC236}">
                <a16:creationId xmlns:a16="http://schemas.microsoft.com/office/drawing/2014/main" id="{65C509F5-4C5B-50F0-7D0A-1D6159318927}"/>
              </a:ext>
            </a:extLst>
          </p:cNvPr>
          <p:cNvPicPr>
            <a:picLocks noChangeAspect="1"/>
          </p:cNvPicPr>
          <p:nvPr/>
        </p:nvPicPr>
        <p:blipFill rotWithShape="1">
          <a:blip r:embed="rId2"/>
          <a:srcRect r="78273"/>
          <a:stretch/>
        </p:blipFill>
        <p:spPr>
          <a:xfrm>
            <a:off x="6544488" y="1709787"/>
            <a:ext cx="1556752" cy="1369402"/>
          </a:xfrm>
          <a:prstGeom prst="rect">
            <a:avLst/>
          </a:prstGeom>
        </p:spPr>
      </p:pic>
      <p:pic>
        <p:nvPicPr>
          <p:cNvPr id="7" name="Image 6">
            <a:extLst>
              <a:ext uri="{FF2B5EF4-FFF2-40B4-BE49-F238E27FC236}">
                <a16:creationId xmlns:a16="http://schemas.microsoft.com/office/drawing/2014/main" id="{E6FF3369-814B-C4C4-42D4-727F78D6E29F}"/>
              </a:ext>
            </a:extLst>
          </p:cNvPr>
          <p:cNvPicPr>
            <a:picLocks noChangeAspect="1"/>
          </p:cNvPicPr>
          <p:nvPr/>
        </p:nvPicPr>
        <p:blipFill>
          <a:blip r:embed="rId3"/>
          <a:stretch>
            <a:fillRect/>
          </a:stretch>
        </p:blipFill>
        <p:spPr>
          <a:xfrm>
            <a:off x="8234169" y="1736577"/>
            <a:ext cx="2767438" cy="708464"/>
          </a:xfrm>
          <a:prstGeom prst="rect">
            <a:avLst/>
          </a:prstGeom>
        </p:spPr>
      </p:pic>
      <p:pic>
        <p:nvPicPr>
          <p:cNvPr id="11" name="Image 10">
            <a:extLst>
              <a:ext uri="{FF2B5EF4-FFF2-40B4-BE49-F238E27FC236}">
                <a16:creationId xmlns:a16="http://schemas.microsoft.com/office/drawing/2014/main" id="{6345F849-4D7C-81E6-EF81-3C1254946A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887" y="1727782"/>
            <a:ext cx="5803601" cy="1122825"/>
          </a:xfrm>
          <a:prstGeom prst="rect">
            <a:avLst/>
          </a:prstGeom>
        </p:spPr>
      </p:pic>
      <p:sp>
        <p:nvSpPr>
          <p:cNvPr id="12" name="ZoneTexte 11">
            <a:extLst>
              <a:ext uri="{FF2B5EF4-FFF2-40B4-BE49-F238E27FC236}">
                <a16:creationId xmlns:a16="http://schemas.microsoft.com/office/drawing/2014/main" id="{495F5C44-938E-A291-10FA-D382C8A96737}"/>
              </a:ext>
            </a:extLst>
          </p:cNvPr>
          <p:cNvSpPr txBox="1"/>
          <p:nvPr/>
        </p:nvSpPr>
        <p:spPr>
          <a:xfrm>
            <a:off x="740887" y="3313566"/>
            <a:ext cx="10067279"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Ou également « </a:t>
            </a:r>
            <a:r>
              <a:rPr lang="fr-FR" sz="1400" dirty="0" err="1">
                <a:latin typeface="Arial" panose="020B0604020202020204" pitchFamily="34" charset="0"/>
                <a:cs typeface="Arial" panose="020B0604020202020204" pitchFamily="34" charset="0"/>
              </a:rPr>
              <a:t>discord.TextChannel</a:t>
            </a:r>
            <a:r>
              <a:rPr lang="fr-FR" sz="1400" dirty="0">
                <a:latin typeface="Arial" panose="020B0604020202020204" pitchFamily="34" charset="0"/>
                <a:cs typeface="Arial" panose="020B0604020202020204" pitchFamily="34" charset="0"/>
              </a:rPr>
              <a:t> » qui permet de choisir un salon écrit parmi ceux du serveur.</a:t>
            </a:r>
          </a:p>
        </p:txBody>
      </p:sp>
      <p:pic>
        <p:nvPicPr>
          <p:cNvPr id="15" name="Image 14">
            <a:extLst>
              <a:ext uri="{FF2B5EF4-FFF2-40B4-BE49-F238E27FC236}">
                <a16:creationId xmlns:a16="http://schemas.microsoft.com/office/drawing/2014/main" id="{D2E9284D-B5AA-31E5-5F18-3F8F0621CD99}"/>
              </a:ext>
            </a:extLst>
          </p:cNvPr>
          <p:cNvPicPr>
            <a:picLocks noChangeAspect="1"/>
          </p:cNvPicPr>
          <p:nvPr/>
        </p:nvPicPr>
        <p:blipFill>
          <a:blip r:embed="rId5"/>
          <a:stretch>
            <a:fillRect/>
          </a:stretch>
        </p:blipFill>
        <p:spPr>
          <a:xfrm>
            <a:off x="6719183" y="3731828"/>
            <a:ext cx="3858163" cy="704948"/>
          </a:xfrm>
          <a:prstGeom prst="rect">
            <a:avLst/>
          </a:prstGeom>
        </p:spPr>
      </p:pic>
      <p:pic>
        <p:nvPicPr>
          <p:cNvPr id="20" name="Image 19">
            <a:extLst>
              <a:ext uri="{FF2B5EF4-FFF2-40B4-BE49-F238E27FC236}">
                <a16:creationId xmlns:a16="http://schemas.microsoft.com/office/drawing/2014/main" id="{9269BB1D-44F7-09C3-111E-C3B698FC3CAB}"/>
              </a:ext>
            </a:extLst>
          </p:cNvPr>
          <p:cNvPicPr>
            <a:picLocks noChangeAspect="1"/>
          </p:cNvPicPr>
          <p:nvPr/>
        </p:nvPicPr>
        <p:blipFill>
          <a:blip r:embed="rId6"/>
          <a:stretch>
            <a:fillRect/>
          </a:stretch>
        </p:blipFill>
        <p:spPr>
          <a:xfrm>
            <a:off x="6719183" y="4497910"/>
            <a:ext cx="4677428" cy="895475"/>
          </a:xfrm>
          <a:prstGeom prst="rect">
            <a:avLst/>
          </a:prstGeom>
        </p:spPr>
      </p:pic>
      <p:pic>
        <p:nvPicPr>
          <p:cNvPr id="24" name="Image 23">
            <a:extLst>
              <a:ext uri="{FF2B5EF4-FFF2-40B4-BE49-F238E27FC236}">
                <a16:creationId xmlns:a16="http://schemas.microsoft.com/office/drawing/2014/main" id="{FA1FB0F9-4B9B-7463-8DB0-797D59D92E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0887" y="3621343"/>
            <a:ext cx="5965043" cy="1889311"/>
          </a:xfrm>
          <a:prstGeom prst="rect">
            <a:avLst/>
          </a:prstGeom>
        </p:spPr>
      </p:pic>
      <p:sp>
        <p:nvSpPr>
          <p:cNvPr id="25" name="ZoneTexte 24">
            <a:extLst>
              <a:ext uri="{FF2B5EF4-FFF2-40B4-BE49-F238E27FC236}">
                <a16:creationId xmlns:a16="http://schemas.microsoft.com/office/drawing/2014/main" id="{573F100D-67C4-7642-26DC-4865D093AD80}"/>
              </a:ext>
            </a:extLst>
          </p:cNvPr>
          <p:cNvSpPr txBox="1"/>
          <p:nvPr/>
        </p:nvSpPr>
        <p:spPr>
          <a:xfrm>
            <a:off x="740887" y="5750981"/>
            <a:ext cx="10067279" cy="738664"/>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Vous pouvez trouver la liste de tout les types de paramètres dans la documentation de discord : </a:t>
            </a:r>
            <a:r>
              <a:rPr lang="fr-FR" sz="1400" dirty="0">
                <a:latin typeface="Arial" panose="020B0604020202020204" pitchFamily="34" charset="0"/>
                <a:cs typeface="Arial" panose="020B0604020202020204" pitchFamily="34" charset="0"/>
                <a:hlinkClick r:id="rId8"/>
              </a:rPr>
              <a:t>https://discord.com/developers/docs/interactions/application-commands#application-command-object-application-command-option-choice-structure</a:t>
            </a:r>
            <a:r>
              <a:rPr lang="fr-FR" sz="14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55651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Les commandes slash – Paramètres (Partie 3)</a:t>
            </a:r>
          </a:p>
        </p:txBody>
      </p:sp>
      <p:sp>
        <p:nvSpPr>
          <p:cNvPr id="6" name="ZoneTexte 5">
            <a:extLst>
              <a:ext uri="{FF2B5EF4-FFF2-40B4-BE49-F238E27FC236}">
                <a16:creationId xmlns:a16="http://schemas.microsoft.com/office/drawing/2014/main" id="{724B1CBF-A965-57BF-57E3-D32DFB3929AF}"/>
              </a:ext>
            </a:extLst>
          </p:cNvPr>
          <p:cNvSpPr txBox="1"/>
          <p:nvPr/>
        </p:nvSpPr>
        <p:spPr>
          <a:xfrm>
            <a:off x="740887" y="1210249"/>
            <a:ext cx="10067279"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Vous pouvez également créer un paramètre ayant des choix personnalisés.</a:t>
            </a:r>
          </a:p>
        </p:txBody>
      </p:sp>
      <p:pic>
        <p:nvPicPr>
          <p:cNvPr id="5" name="Image 4">
            <a:extLst>
              <a:ext uri="{FF2B5EF4-FFF2-40B4-BE49-F238E27FC236}">
                <a16:creationId xmlns:a16="http://schemas.microsoft.com/office/drawing/2014/main" id="{E26A5958-10BB-75D9-5749-53CEC682CA0B}"/>
              </a:ext>
            </a:extLst>
          </p:cNvPr>
          <p:cNvPicPr>
            <a:picLocks noChangeAspect="1"/>
          </p:cNvPicPr>
          <p:nvPr/>
        </p:nvPicPr>
        <p:blipFill>
          <a:blip r:embed="rId2"/>
          <a:stretch>
            <a:fillRect/>
          </a:stretch>
        </p:blipFill>
        <p:spPr>
          <a:xfrm>
            <a:off x="915352" y="4604453"/>
            <a:ext cx="1457032" cy="1830631"/>
          </a:xfrm>
          <a:prstGeom prst="rect">
            <a:avLst/>
          </a:prstGeom>
        </p:spPr>
      </p:pic>
      <p:pic>
        <p:nvPicPr>
          <p:cNvPr id="9" name="Image 8">
            <a:extLst>
              <a:ext uri="{FF2B5EF4-FFF2-40B4-BE49-F238E27FC236}">
                <a16:creationId xmlns:a16="http://schemas.microsoft.com/office/drawing/2014/main" id="{8B520F0B-86DE-2BB4-1E86-898387441DC1}"/>
              </a:ext>
            </a:extLst>
          </p:cNvPr>
          <p:cNvPicPr>
            <a:picLocks noChangeAspect="1"/>
          </p:cNvPicPr>
          <p:nvPr/>
        </p:nvPicPr>
        <p:blipFill>
          <a:blip r:embed="rId3"/>
          <a:stretch>
            <a:fillRect/>
          </a:stretch>
        </p:blipFill>
        <p:spPr>
          <a:xfrm>
            <a:off x="2583003" y="4614767"/>
            <a:ext cx="3324689" cy="905001"/>
          </a:xfrm>
          <a:prstGeom prst="rect">
            <a:avLst/>
          </a:prstGeom>
        </p:spPr>
      </p:pic>
      <p:pic>
        <p:nvPicPr>
          <p:cNvPr id="13" name="Image 12">
            <a:extLst>
              <a:ext uri="{FF2B5EF4-FFF2-40B4-BE49-F238E27FC236}">
                <a16:creationId xmlns:a16="http://schemas.microsoft.com/office/drawing/2014/main" id="{2A6620A6-4C6D-6175-FE82-E7E42466F6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887" y="1518026"/>
            <a:ext cx="5852869" cy="2617950"/>
          </a:xfrm>
          <a:prstGeom prst="rect">
            <a:avLst/>
          </a:prstGeom>
        </p:spPr>
      </p:pic>
      <p:sp>
        <p:nvSpPr>
          <p:cNvPr id="14" name="ZoneTexte 13">
            <a:extLst>
              <a:ext uri="{FF2B5EF4-FFF2-40B4-BE49-F238E27FC236}">
                <a16:creationId xmlns:a16="http://schemas.microsoft.com/office/drawing/2014/main" id="{E28C5488-AD5B-7946-709D-BA20FC3C3984}"/>
              </a:ext>
            </a:extLst>
          </p:cNvPr>
          <p:cNvSpPr txBox="1"/>
          <p:nvPr/>
        </p:nvSpPr>
        <p:spPr>
          <a:xfrm>
            <a:off x="740887" y="4211111"/>
            <a:ext cx="3684233"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Affichage sur discord:</a:t>
            </a:r>
          </a:p>
        </p:txBody>
      </p:sp>
      <p:sp>
        <p:nvSpPr>
          <p:cNvPr id="16" name="ZoneTexte 15">
            <a:extLst>
              <a:ext uri="{FF2B5EF4-FFF2-40B4-BE49-F238E27FC236}">
                <a16:creationId xmlns:a16="http://schemas.microsoft.com/office/drawing/2014/main" id="{6B17AF07-4CF6-96C7-B8C8-07B6B80F0333}"/>
              </a:ext>
            </a:extLst>
          </p:cNvPr>
          <p:cNvSpPr txBox="1"/>
          <p:nvPr/>
        </p:nvSpPr>
        <p:spPr>
          <a:xfrm>
            <a:off x="7029701" y="1533455"/>
            <a:ext cx="4393365" cy="332398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Pour ajouter des choix, vous devez ajouter le décorateur « </a:t>
            </a:r>
            <a:r>
              <a:rPr lang="fr-FR" sz="1200" b="0" dirty="0">
                <a:solidFill>
                  <a:srgbClr val="DCDCAA"/>
                </a:solidFill>
                <a:effectLst/>
                <a:latin typeface="Consolas" panose="020B0609020204030204" pitchFamily="49" charset="0"/>
              </a:rPr>
              <a:t>@</a:t>
            </a:r>
            <a:r>
              <a:rPr lang="fr-FR" sz="1200" b="0" dirty="0">
                <a:solidFill>
                  <a:srgbClr val="4EC9B0"/>
                </a:solidFill>
                <a:effectLst/>
                <a:latin typeface="Consolas" panose="020B0609020204030204" pitchFamily="49" charset="0"/>
              </a:rPr>
              <a:t>app_commands</a:t>
            </a:r>
            <a:r>
              <a:rPr lang="fr-FR" sz="1200" b="0" dirty="0">
                <a:solidFill>
                  <a:srgbClr val="DCDCAA"/>
                </a:solidFill>
                <a:effectLst/>
                <a:latin typeface="Consolas" panose="020B0609020204030204" pitchFamily="49" charset="0"/>
              </a:rPr>
              <a:t>.choices</a:t>
            </a:r>
            <a:r>
              <a:rPr lang="fr-FR" sz="1200" b="0" dirty="0">
                <a:solidFill>
                  <a:srgbClr val="D4D4D4"/>
                </a:solidFill>
                <a:effectLst/>
                <a:latin typeface="Consolas" panose="020B0609020204030204" pitchFamily="49" charset="0"/>
              </a:rPr>
              <a:t>()</a:t>
            </a:r>
            <a:r>
              <a:rPr lang="fr-FR" sz="1200" dirty="0">
                <a:latin typeface="Arial" panose="020B0604020202020204" pitchFamily="34" charset="0"/>
                <a:cs typeface="Arial" panose="020B0604020202020204" pitchFamily="34" charset="0"/>
              </a:rPr>
              <a:t> </a:t>
            </a:r>
            <a:r>
              <a:rPr lang="fr-FR" sz="1400" dirty="0">
                <a:latin typeface="Arial" panose="020B0604020202020204" pitchFamily="34" charset="0"/>
                <a:cs typeface="Arial" panose="020B0604020202020204" pitchFamily="34" charset="0"/>
              </a:rPr>
              <a:t>» à votre fonction.</a:t>
            </a:r>
          </a:p>
          <a:p>
            <a:r>
              <a:rPr lang="fr-FR" sz="1400" dirty="0">
                <a:latin typeface="Arial" panose="020B0604020202020204" pitchFamily="34" charset="0"/>
                <a:cs typeface="Arial" panose="020B0604020202020204" pitchFamily="34" charset="0"/>
              </a:rPr>
              <a:t>Il prend en paramètres le nom de la variable dans laquelle vous voulez stocker le choix (ici « nom »).</a:t>
            </a:r>
          </a:p>
          <a:p>
            <a:r>
              <a:rPr lang="fr-FR" sz="1400" dirty="0">
                <a:latin typeface="Arial" panose="020B0604020202020204" pitchFamily="34" charset="0"/>
                <a:cs typeface="Arial" panose="020B0604020202020204" pitchFamily="34" charset="0"/>
              </a:rPr>
              <a:t>Ce paramètre est égal à une liste de choix, chaque choix étant un objet « </a:t>
            </a:r>
            <a:r>
              <a:rPr lang="fr-FR" sz="1200" b="0" dirty="0" err="1">
                <a:solidFill>
                  <a:srgbClr val="4EC9B0"/>
                </a:solidFill>
                <a:effectLst/>
                <a:latin typeface="Consolas" panose="020B0609020204030204" pitchFamily="49" charset="0"/>
              </a:rPr>
              <a:t>app_commands</a:t>
            </a:r>
            <a:r>
              <a:rPr lang="fr-FR" sz="1200" b="0" dirty="0" err="1">
                <a:solidFill>
                  <a:srgbClr val="D4D4D4"/>
                </a:solidFill>
                <a:effectLst/>
                <a:latin typeface="Consolas" panose="020B0609020204030204" pitchFamily="49" charset="0"/>
              </a:rPr>
              <a:t>.</a:t>
            </a:r>
            <a:r>
              <a:rPr lang="fr-FR" sz="1200" b="0" dirty="0" err="1">
                <a:solidFill>
                  <a:srgbClr val="4EC9B0"/>
                </a:solidFill>
                <a:effectLst/>
                <a:latin typeface="Consolas" panose="020B0609020204030204" pitchFamily="49" charset="0"/>
              </a:rPr>
              <a:t>Choice</a:t>
            </a:r>
            <a:r>
              <a:rPr lang="fr-FR" sz="1200" dirty="0">
                <a:solidFill>
                  <a:srgbClr val="4EC9B0"/>
                </a:solidFill>
                <a:latin typeface="Arial" panose="020B0604020202020204" pitchFamily="34" charset="0"/>
                <a:cs typeface="Arial" panose="020B0604020202020204" pitchFamily="34" charset="0"/>
              </a:rPr>
              <a:t> </a:t>
            </a:r>
            <a:r>
              <a:rPr lang="fr-FR" sz="1400" dirty="0">
                <a:latin typeface="Arial" panose="020B0604020202020204" pitchFamily="34" charset="0"/>
                <a:cs typeface="Arial" panose="020B0604020202020204" pitchFamily="34" charset="0"/>
              </a:rPr>
              <a:t>», qui prend en paramètres « nom » qui est le texte à afficher dans la liste des choix, et « value », qui est la valeur qui est transmise à la commande si ce choix est sélectionné ».</a:t>
            </a:r>
          </a:p>
          <a:p>
            <a:r>
              <a:rPr lang="fr-FR" sz="1400" b="0" dirty="0">
                <a:effectLst/>
                <a:latin typeface="Arial" panose="020B0604020202020204" pitchFamily="34" charset="0"/>
                <a:cs typeface="Arial" panose="020B0604020202020204" pitchFamily="34" charset="0"/>
              </a:rPr>
              <a:t>Enfin, vous devrez ajouter le paramètre du décorateur (ici « nom ») à la fonction et mettre comme type d’argument le type des valeurs des choix (« values », ici des chaînes de caractères (</a:t>
            </a:r>
            <a:r>
              <a:rPr lang="fr-FR" sz="1400" b="0" dirty="0" err="1">
                <a:effectLst/>
                <a:latin typeface="Arial" panose="020B0604020202020204" pitchFamily="34" charset="0"/>
                <a:cs typeface="Arial" panose="020B0604020202020204" pitchFamily="34" charset="0"/>
              </a:rPr>
              <a:t>str</a:t>
            </a:r>
            <a:r>
              <a:rPr lang="fr-FR" sz="1400" b="0" dirty="0">
                <a:effectLst/>
                <a:latin typeface="Arial" panose="020B0604020202020204" pitchFamily="34" charset="0"/>
                <a:cs typeface="Arial" panose="020B0604020202020204" pitchFamily="34" charset="0"/>
              </a:rPr>
              <a:t>)).</a:t>
            </a:r>
            <a:endParaRPr lang="fr-FR" sz="1400" b="0" dirty="0">
              <a:effectLst/>
              <a:latin typeface="Consolas" panose="020B0609020204030204" pitchFamily="49" charset="0"/>
            </a:endParaRPr>
          </a:p>
        </p:txBody>
      </p:sp>
    </p:spTree>
    <p:extLst>
      <p:ext uri="{BB962C8B-B14F-4D97-AF65-F5344CB8AC3E}">
        <p14:creationId xmlns:p14="http://schemas.microsoft.com/office/powerpoint/2010/main" val="2391953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4253BE-AFF4-ADBF-B42C-289FE90BA211}"/>
              </a:ext>
            </a:extLst>
          </p:cNvPr>
          <p:cNvSpPr txBox="1"/>
          <p:nvPr/>
        </p:nvSpPr>
        <p:spPr>
          <a:xfrm>
            <a:off x="740887" y="220210"/>
            <a:ext cx="9418320" cy="461665"/>
          </a:xfrm>
          <a:prstGeom prst="rect">
            <a:avLst/>
          </a:prstGeom>
          <a:noFill/>
        </p:spPr>
        <p:txBody>
          <a:bodyPr wrap="square" rtlCol="0">
            <a:spAutoFit/>
          </a:bodyPr>
          <a:lstStyle/>
          <a:p>
            <a:pPr marL="457200" indent="-457200">
              <a:buFont typeface="Arial" panose="020B0604020202020204" pitchFamily="34" charset="0"/>
              <a:buChar char="•"/>
            </a:pPr>
            <a:r>
              <a:rPr lang="fr-FR" sz="2400" b="1" dirty="0">
                <a:latin typeface="Arial" panose="020B0604020202020204" pitchFamily="34" charset="0"/>
                <a:ea typeface="Adobe Heiti Std R" panose="020B0400000000000000" pitchFamily="34" charset="-128"/>
                <a:cs typeface="Arial" panose="020B0604020202020204" pitchFamily="34" charset="0"/>
              </a:rPr>
              <a:t>Attention</a:t>
            </a:r>
          </a:p>
        </p:txBody>
      </p:sp>
      <p:sp>
        <p:nvSpPr>
          <p:cNvPr id="14" name="ZoneTexte 13">
            <a:extLst>
              <a:ext uri="{FF2B5EF4-FFF2-40B4-BE49-F238E27FC236}">
                <a16:creationId xmlns:a16="http://schemas.microsoft.com/office/drawing/2014/main" id="{6E997E16-5DD0-CEAB-FF84-1728DDCA95A0}"/>
              </a:ext>
            </a:extLst>
          </p:cNvPr>
          <p:cNvSpPr txBox="1"/>
          <p:nvPr/>
        </p:nvSpPr>
        <p:spPr>
          <a:xfrm>
            <a:off x="740887" y="2551837"/>
            <a:ext cx="9720186" cy="2308324"/>
          </a:xfrm>
          <a:prstGeom prst="rect">
            <a:avLst/>
          </a:prstGeom>
          <a:noFill/>
        </p:spPr>
        <p:txBody>
          <a:bodyPr wrap="square" rtlCol="0">
            <a:spAutoFit/>
          </a:bodyPr>
          <a:lstStyle/>
          <a:p>
            <a:r>
              <a:rPr lang="fr-FR" dirty="0">
                <a:latin typeface="Arial" panose="020B0604020202020204" pitchFamily="34" charset="0"/>
                <a:ea typeface="Adobe Heiti Std R" panose="020B0400000000000000" pitchFamily="34" charset="-128"/>
                <a:cs typeface="Arial" panose="020B0604020202020204" pitchFamily="34" charset="0"/>
              </a:rPr>
              <a:t>Dans ce tuto, je vais vous montrer deux approches pour coder les boutons et autres éléments de ce style:</a:t>
            </a:r>
          </a:p>
          <a:p>
            <a:pPr marL="285750" indent="-285750">
              <a:buFont typeface="Arial" panose="020B0604020202020204" pitchFamily="34" charset="0"/>
              <a:buChar char="•"/>
            </a:pPr>
            <a:r>
              <a:rPr lang="fr-FR" dirty="0">
                <a:latin typeface="Arial" panose="020B0604020202020204" pitchFamily="34" charset="0"/>
                <a:ea typeface="Adobe Heiti Std R" panose="020B0400000000000000" pitchFamily="34" charset="-128"/>
                <a:cs typeface="Arial" panose="020B0604020202020204" pitchFamily="34" charset="0"/>
              </a:rPr>
              <a:t>Une version plus « simple »</a:t>
            </a:r>
          </a:p>
          <a:p>
            <a:pPr marL="285750" indent="-285750">
              <a:buFont typeface="Arial" panose="020B0604020202020204" pitchFamily="34" charset="0"/>
              <a:buChar char="•"/>
            </a:pPr>
            <a:r>
              <a:rPr lang="fr-FR" dirty="0">
                <a:latin typeface="Arial" panose="020B0604020202020204" pitchFamily="34" charset="0"/>
                <a:ea typeface="Adobe Heiti Std R" panose="020B0400000000000000" pitchFamily="34" charset="-128"/>
                <a:cs typeface="Arial" panose="020B0604020202020204" pitchFamily="34" charset="0"/>
              </a:rPr>
              <a:t>Une version avancée utilisant les classes, qui est plus « ordonnée » mais également plus avancée.</a:t>
            </a:r>
          </a:p>
          <a:p>
            <a:endParaRPr lang="fr-FR" dirty="0">
              <a:latin typeface="Arial" panose="020B0604020202020204" pitchFamily="34" charset="0"/>
              <a:ea typeface="Adobe Heiti Std R" panose="020B0400000000000000" pitchFamily="34" charset="-128"/>
              <a:cs typeface="Arial" panose="020B0604020202020204" pitchFamily="34" charset="0"/>
            </a:endParaRPr>
          </a:p>
          <a:p>
            <a:r>
              <a:rPr lang="fr-FR" dirty="0">
                <a:latin typeface="Arial" panose="020B0604020202020204" pitchFamily="34" charset="0"/>
                <a:ea typeface="Adobe Heiti Std R" panose="020B0400000000000000" pitchFamily="34" charset="-128"/>
                <a:cs typeface="Arial" panose="020B0604020202020204" pitchFamily="34" charset="0"/>
              </a:rPr>
              <a:t>L’approche que j’utilise sera indiquée dans les titres, avec la version « simple » et la version « avancée ».</a:t>
            </a:r>
          </a:p>
        </p:txBody>
      </p:sp>
    </p:spTree>
    <p:extLst>
      <p:ext uri="{BB962C8B-B14F-4D97-AF65-F5344CB8AC3E}">
        <p14:creationId xmlns:p14="http://schemas.microsoft.com/office/powerpoint/2010/main" val="674300670"/>
      </p:ext>
    </p:extLst>
  </p:cSld>
  <p:clrMapOvr>
    <a:masterClrMapping/>
  </p:clrMapOvr>
</p:sld>
</file>

<file path=ppt/theme/theme1.xml><?xml version="1.0" encoding="utf-8"?>
<a:theme xmlns:a="http://schemas.openxmlformats.org/drawingml/2006/main" name="Vue">
  <a:themeElements>
    <a:clrScheme name="Vue">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ue">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ue">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TM03457515[[fn=Vue]]</Template>
  <TotalTime>0</TotalTime>
  <Words>1697</Words>
  <Application>Microsoft Office PowerPoint</Application>
  <PresentationFormat>Grand écran</PresentationFormat>
  <Paragraphs>110</Paragraphs>
  <Slides>15</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Century Schoolbook</vt:lpstr>
      <vt:lpstr>Consolas</vt:lpstr>
      <vt:lpstr>Wingdings 2</vt:lpstr>
      <vt:lpstr>Vue</vt:lpstr>
      <vt:lpstr>Les bases de  discord.py (version v2.0.1+)</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bases de  discord.py (version v2.0.1+)</dc:title>
  <dc:creator>Eagle 57</dc:creator>
  <cp:lastModifiedBy>Eagle 57</cp:lastModifiedBy>
  <cp:revision>4</cp:revision>
  <dcterms:created xsi:type="dcterms:W3CDTF">2023-04-27T17:52:54Z</dcterms:created>
  <dcterms:modified xsi:type="dcterms:W3CDTF">2023-04-27T21:24:10Z</dcterms:modified>
</cp:coreProperties>
</file>